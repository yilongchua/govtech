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92255c01a400b" /><Relationship Type="http://schemas.openxmlformats.org/officeDocument/2006/relationships/extended-properties" Target="/docProps/app.xml" Id="R3da438c9d595428f" /><Relationship Type="http://schemas.openxmlformats.org/officeDocument/2006/relationships/officeDocument" Target="/ppt/presentation.xml" Id="R299ad8f209bc4c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fc584da822495e"/>
  </p:sldMasterIdLst>
  <p:notesMasterIdLst>
    <p:notesMasterId xmlns:r="http://schemas.openxmlformats.org/officeDocument/2006/relationships" r:id="R9a262ec787b747d8"/>
  </p:notesMasterIdLst>
  <p:sldIdLst>
    <p:sldId xmlns:r="http://schemas.openxmlformats.org/officeDocument/2006/relationships" id="256" r:id="R00dd1f24097e40ae"/>
    <p:sldId xmlns:r="http://schemas.openxmlformats.org/officeDocument/2006/relationships" id="257" r:id="R9285af3f64034465"/>
    <p:sldId xmlns:r="http://schemas.openxmlformats.org/officeDocument/2006/relationships" id="258" r:id="Rb7e309f2100e4d4d"/>
    <p:sldId xmlns:r="http://schemas.openxmlformats.org/officeDocument/2006/relationships" id="259" r:id="R08a0be8555934eb7"/>
    <p:sldId xmlns:r="http://schemas.openxmlformats.org/officeDocument/2006/relationships" id="260" r:id="Rd0f648567f874279"/>
    <p:sldId xmlns:r="http://schemas.openxmlformats.org/officeDocument/2006/relationships" id="261" r:id="R079578358da2400d"/>
    <p:sldId xmlns:r="http://schemas.openxmlformats.org/officeDocument/2006/relationships" id="262" r:id="R40e00ff0f0b24114"/>
    <p:sldId xmlns:r="http://schemas.openxmlformats.org/officeDocument/2006/relationships" id="263" r:id="R1fbcf31048884dba"/>
    <p:sldId xmlns:r="http://schemas.openxmlformats.org/officeDocument/2006/relationships" id="264" r:id="Rd310fae587b74f5e"/>
    <p:sldId xmlns:r="http://schemas.openxmlformats.org/officeDocument/2006/relationships" id="265" r:id="R36158451b9534d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05b8be25c498a" /><Relationship Type="http://schemas.openxmlformats.org/officeDocument/2006/relationships/slideMaster" Target="/ppt/slideMasters/slideMaster1.xml" Id="R60fc584da822495e" /><Relationship Type="http://schemas.openxmlformats.org/officeDocument/2006/relationships/notesMaster" Target="/ppt/notesMasters/notesMaster1.xml" Id="R9a262ec787b747d8" /><Relationship Type="http://schemas.openxmlformats.org/officeDocument/2006/relationships/presProps" Target="/ppt/presProps.xml" Id="R77709294c1944ef9" /><Relationship Type="http://schemas.openxmlformats.org/officeDocument/2006/relationships/tableStyles" Target="/ppt/tableStyles.xml" Id="Rfb1820792e1e40aa" /><Relationship Type="http://schemas.openxmlformats.org/officeDocument/2006/relationships/slide" Target="/ppt/slides/slide1.xml" Id="R00dd1f24097e40ae" /><Relationship Type="http://schemas.openxmlformats.org/officeDocument/2006/relationships/slide" Target="/ppt/slides/slide2.xml" Id="R9285af3f64034465" /><Relationship Type="http://schemas.openxmlformats.org/officeDocument/2006/relationships/slide" Target="/ppt/slides/slide3.xml" Id="Rb7e309f2100e4d4d" /><Relationship Type="http://schemas.openxmlformats.org/officeDocument/2006/relationships/slide" Target="/ppt/slides/slide4.xml" Id="R08a0be8555934eb7" /><Relationship Type="http://schemas.openxmlformats.org/officeDocument/2006/relationships/slide" Target="/ppt/slides/slide5.xml" Id="Rd0f648567f874279" /><Relationship Type="http://schemas.openxmlformats.org/officeDocument/2006/relationships/slide" Target="/ppt/slides/slide6.xml" Id="R079578358da2400d" /><Relationship Type="http://schemas.openxmlformats.org/officeDocument/2006/relationships/slide" Target="/ppt/slides/slide7.xml" Id="R40e00ff0f0b24114" /><Relationship Type="http://schemas.openxmlformats.org/officeDocument/2006/relationships/slide" Target="/ppt/slides/slide8.xml" Id="R1fbcf31048884dba" /><Relationship Type="http://schemas.openxmlformats.org/officeDocument/2006/relationships/slide" Target="/ppt/slides/slide9.xml" Id="Rd310fae587b74f5e" /><Relationship Type="http://schemas.openxmlformats.org/officeDocument/2006/relationships/slide" Target="/ppt/slides/slide10.xml" Id="R36158451b9534d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e06f4190d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88cdb75bc24837" /><Relationship Type="http://schemas.openxmlformats.org/officeDocument/2006/relationships/notesMaster" Target="/ppt/notesMasters/notesMaster1.xml" Id="Rb0addb7c784849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c90577764468a" /><Relationship Type="http://schemas.openxmlformats.org/officeDocument/2006/relationships/notesMaster" Target="/ppt/notesMasters/notesMaster1.xml" Id="R80777a719025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9fa39c8d1e4aa8" /><Relationship Type="http://schemas.openxmlformats.org/officeDocument/2006/relationships/notesMaster" Target="/ppt/notesMasters/notesMaster1.xml" Id="R57e21ef55fce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e47ee7dcd04b3c" /><Relationship Type="http://schemas.openxmlformats.org/officeDocument/2006/relationships/notesMaster" Target="/ppt/notesMasters/notesMaster1.xml" Id="R51db36e14f9f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013a89da994be2" /><Relationship Type="http://schemas.openxmlformats.org/officeDocument/2006/relationships/notesMaster" Target="/ppt/notesMasters/notesMaster1.xml" Id="R4a304c41875046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2a427cb26d4cb1" /><Relationship Type="http://schemas.openxmlformats.org/officeDocument/2006/relationships/notesMaster" Target="/ppt/notesMasters/notesMaster1.xml" Id="Rf12f75e634ea44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f4482a4dc64d9a" /><Relationship Type="http://schemas.openxmlformats.org/officeDocument/2006/relationships/notesMaster" Target="/ppt/notesMasters/notesMaster1.xml" Id="R8a8b20ddfeb64e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ee3467101e4c8f" /><Relationship Type="http://schemas.openxmlformats.org/officeDocument/2006/relationships/notesMaster" Target="/ppt/notesMasters/notesMaster1.xml" Id="R55901fdc8568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3125fcedd454c" /><Relationship Type="http://schemas.openxmlformats.org/officeDocument/2006/relationships/notesMaster" Target="/ppt/notesMasters/notesMaster1.xml" Id="R6587c999b51448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2ec8ad052646ae" /><Relationship Type="http://schemas.openxmlformats.org/officeDocument/2006/relationships/notesMaster" Target="/ppt/notesMasters/notesMaster1.xml" Id="Rf9f8f4297d7943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95a1db11642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dd3d94da1041ec" /><Relationship Type="http://schemas.openxmlformats.org/officeDocument/2006/relationships/slideLayout" Target="/ppt/slideLayouts/slideLayout1.xml" Id="R526cdd3ce61f4c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cdd3ce61f4c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64a66dd754bf6" /><Relationship Type="http://schemas.openxmlformats.org/officeDocument/2006/relationships/image" Target="/ppt/media/image.jpeg" Id="R0eb0a06dd8904251" /><Relationship Type="http://schemas.openxmlformats.org/officeDocument/2006/relationships/notesSlide" Target="/ppt/notesSlides/notesSlide1.xml" Id="Rccbe5c0e3771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fce3b22234ca1" /><Relationship Type="http://schemas.openxmlformats.org/officeDocument/2006/relationships/notesSlide" Target="/ppt/notesSlides/notesSlide2.xml" Id="Rd32bd24982ba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c132040904caf" /><Relationship Type="http://schemas.openxmlformats.org/officeDocument/2006/relationships/image" Target="/ppt/media/image.png" Id="Rba92e448c1ca40be" /><Relationship Type="http://schemas.openxmlformats.org/officeDocument/2006/relationships/notesSlide" Target="/ppt/notesSlides/notesSlide3.xml" Id="R5b1a1cc9d25c49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4322a3ee43b8" /><Relationship Type="http://schemas.openxmlformats.org/officeDocument/2006/relationships/image" Target="/ppt/media/image2.png" Id="Rbbb43ca5c3934a9e" /><Relationship Type="http://schemas.openxmlformats.org/officeDocument/2006/relationships/notesSlide" Target="/ppt/notesSlides/notesSlide4.xml" Id="R0f27182e0b4840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2c47922eb4029" /><Relationship Type="http://schemas.openxmlformats.org/officeDocument/2006/relationships/notesSlide" Target="/ppt/notesSlides/notesSlide5.xml" Id="R23f370b504e7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7f17b5844176" /><Relationship Type="http://schemas.openxmlformats.org/officeDocument/2006/relationships/chart" Target="/ppt/slides/charts/chart1.xml" Id="Rabacbc40121a4d82" /><Relationship Type="http://schemas.openxmlformats.org/officeDocument/2006/relationships/notesSlide" Target="/ppt/notesSlides/notesSlide6.xml" Id="R9969ddc47ae748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0b9f5e9f4cc7" /><Relationship Type="http://schemas.openxmlformats.org/officeDocument/2006/relationships/chart" Target="/ppt/slides/charts/chart2.xml" Id="Rb0b20df665244064" /><Relationship Type="http://schemas.openxmlformats.org/officeDocument/2006/relationships/notesSlide" Target="/ppt/notesSlides/notesSlide7.xml" Id="R44bb8ddc8cde4e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7d7d2d1e4cb1" /><Relationship Type="http://schemas.openxmlformats.org/officeDocument/2006/relationships/notesSlide" Target="/ppt/notesSlides/notesSlide8.xml" Id="R7aa9267f74444a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4463275de43c6" /><Relationship Type="http://schemas.openxmlformats.org/officeDocument/2006/relationships/notesSlide" Target="/ppt/notesSlides/notesSlide9.xml" Id="R2805a5ff392c4a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313e4d45a4007" /><Relationship Type="http://schemas.openxmlformats.org/officeDocument/2006/relationships/image" Target="/ppt/media/image3.png" Id="Rc57a0afdcc714c1d" /><Relationship Type="http://schemas.openxmlformats.org/officeDocument/2006/relationships/notesSlide" Target="/ppt/notesSlides/notesSlide10.xml" Id="R7cfc158aa765445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Marks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Section A required</c:v>
              </c:pt>
              <c:pt idx="1">
                <c:v>Section B candidate</c:v>
              </c:pt>
              <c:pt idx="2">
                <c:v>Section B offered</c:v>
              </c:pt>
            </c:strLit>
          </c:cat>
          <c:val>
            <c:numLit>
              <c:formatCode>General</c:formatCode>
              <c:ptCount val="3"/>
              <c:pt idx="0">
                <c:v>30</c:v>
              </c:pt>
              <c:pt idx="1">
                <c:v>20</c:v>
              </c:pt>
              <c:pt idx="2">
                <c:v>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4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Required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WWII Europe</c:v>
              </c:pt>
              <c:pt idx="1">
                <c:v>Colonial SEA</c:v>
              </c:pt>
              <c:pt idx="2">
                <c:v>Paris Peace</c:v>
              </c:pt>
              <c:pt idx="3">
                <c:v>WWII Asia-Pacific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Offered</c:v>
          </c:tx>
          <c:spPr>
            <a:solidFill xmlns:a="http://schemas.openxmlformats.org/drawingml/2006/main">
              <a:srgbClr val="008C8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WWII Europe</c:v>
              </c:pt>
              <c:pt idx="1">
                <c:v>Colonial SEA</c:v>
              </c:pt>
              <c:pt idx="2">
                <c:v>Paris Peace</c:v>
              </c:pt>
              <c:pt idx="3">
                <c:v>WWII Asia-Pacific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10</c:v>
              </c:pt>
              <c:pt idx="2">
                <c:v>10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35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55555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0B5F8-AAF8-4BC7-B4B8-A60B14A3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Exam Paper Analytical 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3C375-0CB1-498B-861C-95846D1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Syllabus-objective alignment, topic weightage balance, evaluation, and generalisation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B69B4-AE48-47CE-9F8C-E5E1F9E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2492-4D85-4AEC-AD5D-6F383942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58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React frontend for batch paper upload, syllabus management, LLM settings, and report download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B9BD4-4A1D-4E62-85C1-A3B1201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45EE4-A4A4-4061-AA7F-E84287D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58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FastAPI backend for PDF ingestion, route resolution, extraction, alignment, weightage, and report artefacts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D1F7B-B92D-422D-B79A-7A46C74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96AC5-061B-4743-B37E-E64DF8A5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558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Evaluation harness separates extraction success from AI mapping quality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0a06dd8904251"/>
          <a:stretch xmlns:a="http://schemas.openxmlformats.org/drawingml/2006/main"/>
        </p:blipFill>
        <p:spPr>
          <a:xfrm xmlns:a="http://schemas.openxmlformats.org/drawingml/2006/main">
            <a:off x="7143750" y="1667470"/>
            <a:ext cx="4095750" cy="23038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5E192-4580-46A7-B775-F2F943A3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A7D5D-4302-4298-8E12-FCEA912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14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Management briefing with technical implementation 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17A57-E980-44A7-8660-FB75AFC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A7156-324E-446E-8938-D90DCA62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35388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E94B61-803C-4289-B6BA-01D47C74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CURRENT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C360F-3FFD-428E-AFFB-B64DB61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What Was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E3E3-9FB3-4ABE-A204-CCD1D4BF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8AE98-3B36-41C9-A7A6-70A88D5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9543C-02E8-4ED5-923C-EB5F64B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Step 1: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BE656-E8EB-4885-A9B2-51EA270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133600"/>
            <a:ext cx="3048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3DFE-A397-4900-9F27-03B80366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One or more exam PDFs enter through the React 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88A8-760D-497A-A50C-152BD3B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19CC1-D0CE-465A-AA72-A06796EB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Step 2: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DBCE1-0DDD-420B-8923-E92255E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133600"/>
            <a:ext cx="3048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2BBC0-4EEA-4895-B609-9A5B4B6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First-page model scan resolves the configured syllabus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1E90C-3E92-4C78-B959-176AA3C6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14EDA-3C52-4420-8334-F77686A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Step 3: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4F3BC-02CA-4613-909C-C096030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33600"/>
            <a:ext cx="3048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3A33F-222D-4558-A4B1-48AF7203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PDF text, questions, marks, sources, and pages become structured JSON.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49042-50FD-4AE1-9F2C-087F610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7B05C-F8F3-4AF3-BE78-7E1F982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Step 4: 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8F37C-B084-494F-998A-CC36D3CC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33600"/>
            <a:ext cx="3048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580B6-FEBB-43B4-A599-91E08BE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Questions map to objectives/topics; rules and weightage are computed.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5147A-3544-464F-BAB8-BB7D17E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0BBEA-E54F-4C75-85E5-8E2C69B5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Step 5: 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74259-4EE9-4AF0-9CDE-04DBBAD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33600"/>
            <a:ext cx="3048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9B37F-9AC9-4133-9A96-F211A082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Reference-answer evaluator checks accuracy, completeness, and hallucination.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550DD-8B99-4C37-A764-33DB304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66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B6638-D4EF-4E28-8A97-1488760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Step 6: Export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4F5BA-B0AE-470F-988F-998708C9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150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JSON, Word, ZIP, audit logs, and intermediate artefacts are persisted.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39279F-979E-4782-BAE6-434A0E11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1087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A82E9-93C7-4914-B5BC-412B99F4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Design principle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E142A-5AD9-457A-A613-92DB6CA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system avoids free-form AI verdicts. It emits structured, traceable claims that a teacher or reviewer can challenge.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2964A-BDBC-41D3-A4B6-4DD96A0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ECBAC-EC1F-4E2F-93CF-1EB69FB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4537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39005-B0AF-4E0D-8243-39425251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REACT + VITE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D7C78-6A4F-45C3-BF01-664A6CC0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Frontend: Teacher-Facing Control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3AFC4-63F2-4D0F-B3E8-B9854D0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2e448c1ca40be"/>
          <a:stretch xmlns:a="http://schemas.openxmlformats.org/drawingml/2006/main"/>
        </p:blipFill>
        <p:spPr>
          <a:xfrm xmlns:a="http://schemas.openxmlformats.org/drawingml/2006/main">
            <a:off x="608012" y="1695450"/>
            <a:ext cx="48895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5CF40-CCD5-44C9-B12D-8185410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1F975-5C1D-4481-AC21-17EAF19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DA30-9694-43FF-9758-571A6F43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Papers tab: PDF-only dropzone, batch upload, progress states, report tabs, JSON/Word/ZIP downloads.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72553-2FFB-4EB0-A9FE-F54267A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1EDA9-E261-492C-B8BD-7B145ED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Syllabuses tab: SEAB URL or direct PDF ingestion with streamed event timeline and original PDF preview.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0866-F1CE-4AFF-92AA-9FD8F17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00"/>
          </a:solidFill>
          <a:ln xmlns:a="http://schemas.openxmlformats.org/drawingml/2006/main" w="0">
            <a:solidFill>
              <a:srgbClr val="B56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F1BC9-BA42-4012-AAAF-9C6EC763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Settings panel: model provider, base URL, model discovery, timeout, and connection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21320-E012-4425-ADC4-8AC5F968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67F4E-45E1-4A39-A9F9-BF19150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Report view: structure, failed checks, topic weightage, objective alignment, and evidence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F3CDE-D3D5-4434-A7F4-B5AB84D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Key files: App.tsx, client.ts, UploadDropzone.tsx, ComparisonReport.tsx, ModelSettingsPanel.tsx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4794D-4797-4DD6-9AD4-AF7ED80E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31644-2104-46F1-ADF6-13439B7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0171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5E5BA-7E26-42B3-8DA7-6F9CB7AF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FASTAPI + TYPED SCHEMAS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61258-2F5E-46C1-AFE0-81A1E85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Backend: Traceable Analysis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6BD0E-9BB8-461C-AE0D-7E2FEFE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43ca5c3934a9e"/>
          <a:stretch xmlns:a="http://schemas.openxmlformats.org/drawingml/2006/main"/>
        </p:blipFill>
        <p:spPr>
          <a:xfrm xmlns:a="http://schemas.openxmlformats.org/drawingml/2006/main">
            <a:off x="552450" y="1639661"/>
            <a:ext cx="5715000" cy="367392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A9427-A297-40DE-9B6D-E2052DE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5BC4-95D1-4D42-AE73-6D5A3649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Route resolution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11E5A-9EC3-49A5-B774-A452C38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First-page classification resolves configured syllabus route or stops with an explicit route issue.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B93D3-48E5-4672-A1F7-E4B6AC37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CE45A-3295-4A8D-B3B6-55E5FACA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Extraction and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BDFF5-58F0-4102-8355-8295F4F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147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PDF Markdown plus syllabus JSON produce questions, sources, structure metrics, and rule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2CA0D-E7EA-4A89-81B5-41A8C93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381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ED4DE-E884-4CB9-8F24-1D646892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Alignment and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810A4-1AAA-43EC-8635-0175C4C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Question annotations feed required/offered topic weightage and final ComparisonReport exports.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75D1E-5883-417E-83BD-C24C665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47852-086F-4773-BB97-C1767FB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3536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58F56-AC86-447B-9846-FDB2635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SCHEMAS AND ARTEFACTS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C26FF-AD52-45B4-8994-8E51B9A4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Data Contracts Make AI Claims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E63C2-AB74-4107-B08F-30AFAE7B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90CD-0564-434C-A6D4-1259198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A42DD-F408-4550-AE15-5621563A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0C5BF-52D8-4435-9281-119F563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4C6C4-036D-4866-8470-5D93321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Review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1B100-8F4C-4FCA-B2B1-5A4CAAD4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4C0FA-AC54-4836-8903-4964898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ExamPaper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B7094-4D74-4A74-966F-77EE28FF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28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Questions, sources, marks,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65335-30CD-4812-93B5-4B976DA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Grounds paper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E64D8-199A-4C78-9076-40F65F1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0F3CC-555C-4B30-BB18-AFBFA25D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SyllabusDocument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FF5AA-7D22-4F2E-8293-5F98095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Objectives, components, topics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875D0-999B-4CB8-9033-5A3FA49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Defines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34D0A-7D8D-43D7-9A3D-35312AD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E6758-5A7D-4210-B82E-284EFA9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Question Annotation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9370A-3981-4B79-8F7D-9EE4A01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Objective/topic mapping plus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F6243-195F-414A-B688-35B14AA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Audits AI reasoning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25F86-8B0D-46CD-B33E-A2276A7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E4B82-0823-4665-9E77-09F92D1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TopicWeightage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B9BF4-C233-4C35-8210-F8B1A86E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Required vs offered 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2CC80-1BD5-4D32-840A-A89E3CFD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Shows topic balance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AC232-7F46-4F63-BBDF-E750F4B8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553F2-CEE0-43E9-857B-46A6C548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ComparisonReport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F03BC-A009-489D-845F-5A1055E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38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Checks, issues, metrics, downloads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5035A-AB6F-4930-9975-5DE28A8A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Management-ready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9E650-CED1-4F87-9368-37EB94B2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Clean Report Assembly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75D7E-DCAB-407B-AF19-962E2794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5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A13E4-32F6-4F48-BF8F-98138BB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C8C"/>
                </a:solidFill>
              </a:defRPr>
            </a:pPr>
            <a:r>
              <a:rPr sz="1125" b="1">
                <a:solidFill>
                  <a:srgbClr val="008C8C"/>
                </a:solidFill>
              </a:rPr>
              <a:t>Syllabus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A8200-35D4-4762-8B8E-C78FBB67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5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E43E9-A83F-4FC1-89FB-934A26B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C8C"/>
                </a:solidFill>
              </a:defRPr>
            </a:pPr>
            <a:r>
              <a:rPr sz="1125" b="1">
                <a:solidFill>
                  <a:srgbClr val="008C8C"/>
                </a:solidFill>
              </a:rPr>
              <a:t>Exam paper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43036-A256-490E-93D0-5BE30F01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5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C34FE-277D-4A8D-B27A-2DA7E11D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4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C8C"/>
                </a:solidFill>
              </a:defRPr>
            </a:pPr>
            <a:r>
              <a:rPr sz="1125" b="1">
                <a:solidFill>
                  <a:srgbClr val="008C8C"/>
                </a:solidFill>
              </a:rPr>
              <a:t>Rule checks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30CD8-C23A-4FDE-9A2B-CB63F0F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943646-7BAB-4250-8992-7304C8F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295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Comparison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96A78F-B1F6-43C4-9482-7A92CA0D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7DE53-01C3-44A2-805B-F3E03F58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051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Question mapping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4EDA1F-D89C-412F-AE90-AF972386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766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AA5C8-BF8D-43E4-82B2-240DED4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Topic weightage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AA7045-F481-48B9-8312-FF873F5A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05EE4A-1E7F-4808-AEB9-ADFC557C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C26A8-A1F8-4211-BF92-016BF3B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A9753B-9853-4B5E-9314-0445036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2286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E2706A-5EC3-4625-B43B-9BC02D2D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29050"/>
            <a:ext cx="2286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4C29BB-ABD3-4BFC-9DA4-2345FD61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Inputs and checks feed one final report payload.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2A5F82-0C72-4745-8CCF-336E9830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Persisted outputs include original upload, first-page image, Markdown, raw model response, raw extraction, exam structure, report JSON, and audit log.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306438-1ADB-449B-95C5-BF8E82A3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728EE7-3852-44A5-826A-95929551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6288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2D58D-48F7-4654-B9C2-4D85B150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SPECIMEN PAPER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32AF-935B-4F1E-B557-30FE3FA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History Paper 1 Result: Structure Extracted Cleanly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3A76B-E302-49FD-B555-9A91A5A1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61D4F-7FF9-4FD3-8D3A-9013F22C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4CB47-A225-4D40-A7E2-D34E83C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5FC9-ABC3-4570-B48D-0F29C18C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candidate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76FCF-E792-4DFE-B1B5-F3A1D93E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716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1855-AB22-441F-817A-F31694B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B16C4-C105-40AD-B249-18AA74DE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questions extracted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A7BEC-B19A-4278-83B4-7C2BC3F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B7338-394B-47DD-9782-1F54B35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C6B71-3748-424B-BE50-7FBDD06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sources traced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DF9D8-97C9-46F2-A713-3970858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653E6-2B55-41D5-A735-2FE1D79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E7D32"/>
                </a:solidFill>
              </a:defRPr>
            </a:pPr>
            <a:r>
              <a:rPr sz="4050" b="1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D6D21-9FCF-4279-B23F-5E45E0D8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pipeline issues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1143000" y="3657600"/>
          <a:ext xmlns:a="http://schemas.openxmlformats.org/drawingml/2006/main" cx="9525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acbc40121a4d82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3EF52-9902-4F30-B926-4EC6D41A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A9A43-2143-48B8-B761-E33490A8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01472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824F4-D460-4438-8DDC-8E992FE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85AA3-E5A5-4B5B-99FA-F945D65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Topic Weightage: Required vs Offered Marks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42354-9C32-4759-B9A1-7BFD36F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0100" y="17145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b20df6652440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5D911-9E9E-43F9-B8E5-384E3E2D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D8899-AE61-4061-B347-F63A1C11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047D1-5DA7-4B6B-AE64-1264DA1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Section A concentrates compulsory marks on WWII Europe.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7C296-2B06-473C-853A-74EB9C45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F76CC-8127-43FB-8982-DBFA9D3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Reviewer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72A76-BC8C-4A59-A3E1-B7AAD681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Confirm whether this is intended for the paper or should be diversified in future papers.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A8228-092A-4A60-B106-CC5E0C5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Note: reviewed reference mappings illustrate the expected AI output; fresh mock runs correctly expose mapping uncertainty.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EB0A4-79F6-4DC6-A76C-518D8DA9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AFD0E-EA26-4D25-AB2E-9ECA4419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19508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A4FFA-169D-48BF-A39A-9D7E1BB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ED7B2-8230-4752-92B8-7E3C3DF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Evaluation: What The Scorer Catches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518A1-0979-4625-8278-C3BD05F0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871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94598"/>
                <a:gridCol w="1385888"/>
                <a:gridCol w="1570673"/>
                <a:gridCol w="1940243"/>
                <a:gridCol w="3695700"/>
              </a:tblGrid>
              <a:tr h="603250">
                <a:tc>
                  <a:txBody>
                    <a:bodyPr/>
                    <a:lstStyle/>
                    <a:p>
                      <a:r>
                        <a:t>Run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Hallucination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Reference 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Target output matched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Fresh mock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0.2143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0.3214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Extraction passes; mapping uncertain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353EC-6575-40CC-9A1B-67D3ECB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5B30F-017A-455D-A3D8-03CDDE5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Accuracy: exact and textual similarity against expected structured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05D0-7669-4C97-B0E9-C42B533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011AF-D265-408B-8B48-77AC959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Completeness: required fields are present, including objectives and topic-weightage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8B8C1-E9D1-4204-9AD8-156989E6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00"/>
          </a:solidFill>
          <a:ln xmlns:a="http://schemas.openxmlformats.org/drawingml/2006/main" w="0">
            <a:solidFill>
              <a:srgbClr val="B56B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799EF-4E87-4D77-965E-21AF5148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Hallucination: predicted values must be supported by paper text or the reviewed reference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5F514-6797-4B53-9D06-262F7248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471E7-07F4-406F-B211-E66F485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Operational lesson: model output should be evaluated separately from pipeline health.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D0A69-4393-40AE-9F0F-46C9D48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075CA-2A94-43D4-A1BA-7BCD44F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1485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EED16-3E74-4243-8789-5D0EDAE5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REUSABLE PIPELINE, SUBJECT-SPECIFIC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14630-F946-4CA7-B749-BBD6DAE7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Generalising Beyond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6349A-8A31-44A8-B4F0-D5BC7F2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1591C-92DF-4D17-80DE-950AA7C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13DAD-DEC2-42A1-94BB-9A8E2A3D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Reusable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9E7C0-9019-4692-ACDB-0EBB1F6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8787E-375D-4F10-8B37-500E1971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PDF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2B364-BE70-4A49-97B2-2E57827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42AD7-3B21-4849-80F0-DD19E954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First-page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CADF7-FFB3-4A31-8D68-21D1EC9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AB40-717D-477D-95FA-5F895218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Markdown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3A16-931E-4C9C-A7C2-656EE63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5C7DF-ABB9-4662-B4DB-14060FC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Syllabus ingestion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99B03-CE8C-4997-897D-187CF9DB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4036D-3B98-4C74-995A-970EC3BA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LLM JSON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69D3C-4300-434F-B06B-719DD29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F88D3-5528-40DD-9687-5F5EC4F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Report exports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4C188-3BD0-4178-AC0B-1BA2D39E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A2F12-F2C0-481D-8F15-58527AA9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Subject-specific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A2574-5044-4424-B395-8FD62DB5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D58A8-D497-41D3-A359-1731FFE7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Assessment objectives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D302D-A197-4625-9776-A3CEAF98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0E979-7470-4014-BAEA-7CD28C8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Component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CA073-9C7B-4263-BD40-275C58B8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A88F6-3D78-4F4D-99A1-42E7480F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Choice policies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D2879-B6EF-44B4-99E8-7777794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C2EFF-7C37-41C4-95D7-0EFF69F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Topic taxonomy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62659-9E03-44B6-A2A8-96E09710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66DE2-E12B-4862-97D4-492224AB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Evidence expectations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5BE2A-9BDE-4BF5-9A3E-CF18824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7BA0B-E40A-4C1B-97C8-A648365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Reference answer 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CDDB42-F6FC-45E5-8021-1F309384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6A69C-4B4F-474A-A26C-E239A250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Production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CDC27-0366-4D84-9975-439BC85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5BAE3-D423-408C-8DB0-8BF80D7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Self-hosted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48B954-FF2F-4839-8DA6-F25A59B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C2BCD-86DD-42E0-A5F4-EE7E127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Prompt versioning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CC06D5-39EA-479A-B455-626EB8D1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CB8872-050D-4E1A-9486-2891763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Teacher review queue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D00FB9-0CE5-49F1-B430-C492272C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88BAB4-62CC-492D-84DE-5500CDC2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Audit logs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5FBB35-0005-43C5-A5D4-AFF2CDDC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EBC85A-FF31-4F8A-BF6A-64065508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Data retention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78F132-94DC-4162-A4F1-6E35B3BA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A18CB3-22F2-4888-ACFB-5ABA4C7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Fallback behaviour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64BE7F-1F89-4852-8566-F4BAE83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Conclusion: the architecture generalises, but each subject needs a reviewed rule pack and answer set before high-stakes use.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F0BEC3-273E-4160-A65B-26A81806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FC2847-4080-4518-8D68-4D72D92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73000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B31B0-CEDE-489E-B999-82A47D3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DEPLOYMENT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04F21-1955-417B-873A-7CC1BD4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Practical Usage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E215D-B410-4E0A-8061-F3EED31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a0afdcc714c1d"/>
          <a:srcRect xmlns:a="http://schemas.openxmlformats.org/drawingml/2006/main" l="7790" t="0" r="7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62100"/>
            <a:ext cx="371475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5D24D-574F-47E3-95C9-860B51E7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4CD47-B27F-4BE0-A325-307B105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Use as a teacher-review assistant, not an autonomous approval engine.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B01F-3F9C-4A8A-BE9D-1504EB8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DED84-F12C-4DC4-B204-CCDDFA68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Run self-hosted models through LM Studio, Ollama, or OpenAI-compatible endpoints for local governance.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967D4-5E35-4486-84AF-F9780BD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FD9B5-7F7E-4BE9-82AF-863E5C9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Require evidence pages and ambiguity notes for all alignment claims.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86211-85C0-463F-BFEB-D7A5B3AC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00"/>
          </a:solidFill>
          <a:ln xmlns:a="http://schemas.openxmlformats.org/drawingml/2006/main" w="0">
            <a:solidFill>
              <a:srgbClr val="B56B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2CAB2-5CDA-4586-B4B5-7BA00516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Add subject packs incrementally: syllabus JSON, extraction profile, rule checks, prompt tests, reference answer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FF0CA-2C6E-417E-8B71-8D33179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F23CB-59E6-4FB5-BDFC-FB882388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Improve next: real-model benchmark set, UI screenshots, reviewer feedback loop, and confidence calibration.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C61C9-7976-4377-8F58-7D95C2E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877D-941D-4171-A918-7111F92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9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Recommended 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C0F03-065E-4DB0-A4F7-E2A67D5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14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Keep human sign-off, preserve audit logs, and review uncertain mappings before acting.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4ADCA-78F0-4EDF-9474-4915B78A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History Exam Paper AI Alignment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EE147-09F7-492D-A8F7-2C66A0E1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610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2026-06-30T07:39:47.8210000Z</dcterms:created>
  <dcterms:modified xsi:type="dcterms:W3CDTF">2026-06-30T07:39:47.8210000Z</dcterms:modified>
</coreProperties>
</file>