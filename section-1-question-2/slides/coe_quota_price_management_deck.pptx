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4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5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ee6b55d1da448d" /><Relationship Type="http://schemas.openxmlformats.org/officeDocument/2006/relationships/extended-properties" Target="/docProps/app.xml" Id="Re3addbfa13124186" /><Relationship Type="http://schemas.openxmlformats.org/officeDocument/2006/relationships/officeDocument" Target="/ppt/presentation.xml" Id="Raf8cb317c44144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dc15cea91e492e"/>
  </p:sldMasterIdLst>
  <p:notesMasterIdLst>
    <p:notesMasterId xmlns:r="http://schemas.openxmlformats.org/officeDocument/2006/relationships" r:id="Rec6e44fe52324674"/>
  </p:notesMasterIdLst>
  <p:sldIdLst>
    <p:sldId xmlns:r="http://schemas.openxmlformats.org/officeDocument/2006/relationships" id="256" r:id="R933a32364ece491b"/>
    <p:sldId xmlns:r="http://schemas.openxmlformats.org/officeDocument/2006/relationships" id="257" r:id="Ree6896e0d95541f8"/>
    <p:sldId xmlns:r="http://schemas.openxmlformats.org/officeDocument/2006/relationships" id="258" r:id="R8ab88ccff9554b76"/>
    <p:sldId xmlns:r="http://schemas.openxmlformats.org/officeDocument/2006/relationships" id="259" r:id="Ref3e3e3908064d70"/>
    <p:sldId xmlns:r="http://schemas.openxmlformats.org/officeDocument/2006/relationships" id="260" r:id="Rf461ca31056742a6"/>
    <p:sldId xmlns:r="http://schemas.openxmlformats.org/officeDocument/2006/relationships" id="261" r:id="Ra2c1a3dc67df4565"/>
    <p:sldId xmlns:r="http://schemas.openxmlformats.org/officeDocument/2006/relationships" id="262" r:id="R6834ef0ec7594a08"/>
    <p:sldId xmlns:r="http://schemas.openxmlformats.org/officeDocument/2006/relationships" id="263" r:id="R0a2e4b55c89c4186"/>
    <p:sldId xmlns:r="http://schemas.openxmlformats.org/officeDocument/2006/relationships" id="264" r:id="R667e38833f274396"/>
    <p:sldId xmlns:r="http://schemas.openxmlformats.org/officeDocument/2006/relationships" id="265" r:id="R001e32507ac14a4e"/>
    <p:sldId xmlns:r="http://schemas.openxmlformats.org/officeDocument/2006/relationships" id="266" r:id="R1e34de68724643c5"/>
    <p:sldId xmlns:r="http://schemas.openxmlformats.org/officeDocument/2006/relationships" id="267" r:id="Rd3ae96e5aa7d42a0"/>
    <p:sldId xmlns:r="http://schemas.openxmlformats.org/officeDocument/2006/relationships" id="268" r:id="Rd360ece49767411c"/>
    <p:sldId xmlns:r="http://schemas.openxmlformats.org/officeDocument/2006/relationships" id="269" r:id="Rdde88690bcea43a5"/>
    <p:sldId xmlns:r="http://schemas.openxmlformats.org/officeDocument/2006/relationships" id="270" r:id="Rcce33adadba149d2"/>
    <p:sldId xmlns:r="http://schemas.openxmlformats.org/officeDocument/2006/relationships" id="271" r:id="R58fae8500e304be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24f0bf74c494e84" /><Relationship Type="http://schemas.openxmlformats.org/officeDocument/2006/relationships/slideMaster" Target="/ppt/slideMasters/slideMaster1.xml" Id="Rafdc15cea91e492e" /><Relationship Type="http://schemas.openxmlformats.org/officeDocument/2006/relationships/notesMaster" Target="/ppt/notesMasters/notesMaster1.xml" Id="Rec6e44fe52324674" /><Relationship Type="http://schemas.openxmlformats.org/officeDocument/2006/relationships/presProps" Target="/ppt/presProps.xml" Id="R7ec54813e7ab478a" /><Relationship Type="http://schemas.openxmlformats.org/officeDocument/2006/relationships/tableStyles" Target="/ppt/tableStyles.xml" Id="Rc4314bd2a71d4566" /><Relationship Type="http://schemas.openxmlformats.org/officeDocument/2006/relationships/slide" Target="/ppt/slides/slide1.xml" Id="R933a32364ece491b" /><Relationship Type="http://schemas.openxmlformats.org/officeDocument/2006/relationships/slide" Target="/ppt/slides/slide2.xml" Id="Ree6896e0d95541f8" /><Relationship Type="http://schemas.openxmlformats.org/officeDocument/2006/relationships/slide" Target="/ppt/slides/slide3.xml" Id="R8ab88ccff9554b76" /><Relationship Type="http://schemas.openxmlformats.org/officeDocument/2006/relationships/slide" Target="/ppt/slides/slide4.xml" Id="Ref3e3e3908064d70" /><Relationship Type="http://schemas.openxmlformats.org/officeDocument/2006/relationships/slide" Target="/ppt/slides/slide5.xml" Id="Rf461ca31056742a6" /><Relationship Type="http://schemas.openxmlformats.org/officeDocument/2006/relationships/slide" Target="/ppt/slides/slide6.xml" Id="Ra2c1a3dc67df4565" /><Relationship Type="http://schemas.openxmlformats.org/officeDocument/2006/relationships/slide" Target="/ppt/slides/slide7.xml" Id="R6834ef0ec7594a08" /><Relationship Type="http://schemas.openxmlformats.org/officeDocument/2006/relationships/slide" Target="/ppt/slides/slide8.xml" Id="R0a2e4b55c89c4186" /><Relationship Type="http://schemas.openxmlformats.org/officeDocument/2006/relationships/slide" Target="/ppt/slides/slide9.xml" Id="R667e38833f274396" /><Relationship Type="http://schemas.openxmlformats.org/officeDocument/2006/relationships/slide" Target="/ppt/slides/slide10.xml" Id="R001e32507ac14a4e" /><Relationship Type="http://schemas.openxmlformats.org/officeDocument/2006/relationships/slide" Target="/ppt/slides/slide11.xml" Id="R1e34de68724643c5" /><Relationship Type="http://schemas.openxmlformats.org/officeDocument/2006/relationships/slide" Target="/ppt/slides/slide12.xml" Id="Rd3ae96e5aa7d42a0" /><Relationship Type="http://schemas.openxmlformats.org/officeDocument/2006/relationships/slide" Target="/ppt/slides/slide13.xml" Id="Rd360ece49767411c" /><Relationship Type="http://schemas.openxmlformats.org/officeDocument/2006/relationships/slide" Target="/ppt/slides/slide14.xml" Id="Rdde88690bcea43a5" /><Relationship Type="http://schemas.openxmlformats.org/officeDocument/2006/relationships/slide" Target="/ppt/slides/slide15.xml" Id="Rcce33adadba149d2" /><Relationship Type="http://schemas.openxmlformats.org/officeDocument/2006/relationships/slide" Target="/ppt/slides/slide16.xml" Id="R58fae8500e304b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4b2dc11ae641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f5cae91b4141c4" /><Relationship Type="http://schemas.openxmlformats.org/officeDocument/2006/relationships/notesMaster" Target="/ppt/notesMasters/notesMaster1.xml" Id="Ra7020abec9124de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ed56eb578b4df1" /><Relationship Type="http://schemas.openxmlformats.org/officeDocument/2006/relationships/notesMaster" Target="/ppt/notesMasters/notesMaster1.xml" Id="Rd43d56e6fe5e4e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ee2d054dc9247f8" /><Relationship Type="http://schemas.openxmlformats.org/officeDocument/2006/relationships/notesMaster" Target="/ppt/notesMasters/notesMaster1.xml" Id="R9f092962074441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d91b753869349fe" /><Relationship Type="http://schemas.openxmlformats.org/officeDocument/2006/relationships/notesMaster" Target="/ppt/notesMasters/notesMaster1.xml" Id="R865a0bc13d8e4c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5bd546123b430d" /><Relationship Type="http://schemas.openxmlformats.org/officeDocument/2006/relationships/notesMaster" Target="/ppt/notesMasters/notesMaster1.xml" Id="Rb35d7ba71509458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2449d74753a4e43" /><Relationship Type="http://schemas.openxmlformats.org/officeDocument/2006/relationships/notesMaster" Target="/ppt/notesMasters/notesMaster1.xml" Id="Reb1987097e6d484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5c09333058d4b65" /><Relationship Type="http://schemas.openxmlformats.org/officeDocument/2006/relationships/notesMaster" Target="/ppt/notesMasters/notesMaster1.xml" Id="R41ced881b0a4470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2638e87d21045ea" /><Relationship Type="http://schemas.openxmlformats.org/officeDocument/2006/relationships/notesMaster" Target="/ppt/notesMasters/notesMaster1.xml" Id="Rb8b85da118484b4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48c1887dee44b30" /><Relationship Type="http://schemas.openxmlformats.org/officeDocument/2006/relationships/notesMaster" Target="/ppt/notesMasters/notesMaster1.xml" Id="R18be2d84843d4f2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bebc40a26d048ba" /><Relationship Type="http://schemas.openxmlformats.org/officeDocument/2006/relationships/notesMaster" Target="/ppt/notesMasters/notesMaster1.xml" Id="Reab38dac2476444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013131e6e9d4cb3" /><Relationship Type="http://schemas.openxmlformats.org/officeDocument/2006/relationships/notesMaster" Target="/ppt/notesMasters/notesMaster1.xml" Id="R1b8a36e7c4f6488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21ac15a869242f0" /><Relationship Type="http://schemas.openxmlformats.org/officeDocument/2006/relationships/notesMaster" Target="/ppt/notesMasters/notesMaster1.xml" Id="Rbdeb4570548f4f7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12c7f7ae1514228" /><Relationship Type="http://schemas.openxmlformats.org/officeDocument/2006/relationships/notesMaster" Target="/ppt/notesMasters/notesMaster1.xml" Id="Rf86444aaf678447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5df1ec68da14c92" /><Relationship Type="http://schemas.openxmlformats.org/officeDocument/2006/relationships/notesMaster" Target="/ppt/notesMasters/notesMaster1.xml" Id="Rf371426f017b4ac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a6bfdd8b80e4c2a" /><Relationship Type="http://schemas.openxmlformats.org/officeDocument/2006/relationships/notesMaster" Target="/ppt/notesMasters/notesMaster1.xml" Id="R9b1858ff588f436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6767dbb777d47b9" /><Relationship Type="http://schemas.openxmlformats.org/officeDocument/2006/relationships/notesMaster" Target="/ppt/notesMasters/notesMaster1.xml" Id="Rd51328d7c2104f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6525f4c9b5404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0889493f96247eb" /><Relationship Type="http://schemas.openxmlformats.org/officeDocument/2006/relationships/slideLayout" Target="/ppt/slideLayouts/slideLayout1.xml" Id="R09955d36351c45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955d36351c45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d45c639fb64fcc" /><Relationship Type="http://schemas.openxmlformats.org/officeDocument/2006/relationships/image" Target="/ppt/media/image.png" Id="R116bb822dfd34430" /><Relationship Type="http://schemas.openxmlformats.org/officeDocument/2006/relationships/notesSlide" Target="/ppt/notesSlides/notesSlide1.xml" Id="Rea59493ddc3d49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25e7fbfe7a41a1" /><Relationship Type="http://schemas.openxmlformats.org/officeDocument/2006/relationships/notesSlide" Target="/ppt/notesSlides/notesSlide2.xml" Id="R40085e62194a45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a7496ff6e34eac" /><Relationship Type="http://schemas.openxmlformats.org/officeDocument/2006/relationships/notesSlide" Target="/ppt/notesSlides/notesSlide3.xml" Id="R1556d84ebff14da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e62c4ee2214769" /><Relationship Type="http://schemas.openxmlformats.org/officeDocument/2006/relationships/chart" Target="/ppt/slides/charts/chart1.xml" Id="Rc2cd2767daf04307" /><Relationship Type="http://schemas.openxmlformats.org/officeDocument/2006/relationships/chart" Target="/ppt/slides/charts/chart2.xml" Id="R5f0abd0e2502410c" /><Relationship Type="http://schemas.openxmlformats.org/officeDocument/2006/relationships/notesSlide" Target="/ppt/notesSlides/notesSlide4.xml" Id="Rfd64d332768444f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bb9f7a6c174f5e" /><Relationship Type="http://schemas.openxmlformats.org/officeDocument/2006/relationships/chart" Target="/ppt/slides/charts/chart3.xml" Id="R69f6c27a209045e2" /><Relationship Type="http://schemas.openxmlformats.org/officeDocument/2006/relationships/notesSlide" Target="/ppt/notesSlides/notesSlide5.xml" Id="Rc4028318833c4ee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83461423b14a4a" /><Relationship Type="http://schemas.openxmlformats.org/officeDocument/2006/relationships/chart" Target="/ppt/slides/charts/chart4.xml" Id="Rbe8768c6bd3e4b2d" /><Relationship Type="http://schemas.openxmlformats.org/officeDocument/2006/relationships/notesSlide" Target="/ppt/notesSlides/notesSlide6.xml" Id="Rd1a081e4c7e4483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ed098cf26340cb" /><Relationship Type="http://schemas.openxmlformats.org/officeDocument/2006/relationships/chart" Target="/ppt/slides/charts/chart5.xml" Id="R43e2ccabf0754a0e" /><Relationship Type="http://schemas.openxmlformats.org/officeDocument/2006/relationships/notesSlide" Target="/ppt/notesSlides/notesSlide7.xml" Id="R769d44ea2d9641f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5ce700fb304639" /><Relationship Type="http://schemas.openxmlformats.org/officeDocument/2006/relationships/notesSlide" Target="/ppt/notesSlides/notesSlide8.xml" Id="R579470b79d2e480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199db287544a5d" /><Relationship Type="http://schemas.openxmlformats.org/officeDocument/2006/relationships/notesSlide" Target="/ppt/notesSlides/notesSlide9.xml" Id="R0d9ef3eb9a9548e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3b355f57d14b96" /><Relationship Type="http://schemas.openxmlformats.org/officeDocument/2006/relationships/notesSlide" Target="/ppt/notesSlides/notesSlide10.xml" Id="R7c656c3a8724477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f93c403ea7493e" /><Relationship Type="http://schemas.openxmlformats.org/officeDocument/2006/relationships/notesSlide" Target="/ppt/notesSlides/notesSlide11.xml" Id="Rb138255c9ca74c5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8b6291b2a440fe" /><Relationship Type="http://schemas.openxmlformats.org/officeDocument/2006/relationships/notesSlide" Target="/ppt/notesSlides/notesSlide12.xml" Id="Rd0b2cd4bf5ef457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bbe50bd747489c" /><Relationship Type="http://schemas.openxmlformats.org/officeDocument/2006/relationships/hyperlink" Target="https://www.iea.org/reports/global-ev-outlook-2025/trends-in-electric-car-markets-2" TargetMode="External" Id="Rafb1f47bb0d24b17" /><Relationship Type="http://schemas.openxmlformats.org/officeDocument/2006/relationships/hyperlink" Target="https://www.businesstimes.com.sg/singapore/evs-form-about-60-car-registrations-singapore-byd-accounts-nearly-1-4-new-cars" TargetMode="External" Id="Rb4a213da6e8c447d" /><Relationship Type="http://schemas.openxmlformats.org/officeDocument/2006/relationships/hyperlink" Target="https://www.lta.gov.sg/content/ltagov/en/industry_innovations/technologies/electric_vehicles/transitioning_to_evs.html" TargetMode="External" Id="R5b19968862aa4792" /><Relationship Type="http://schemas.openxmlformats.org/officeDocument/2006/relationships/notesSlide" Target="/ppt/notesSlides/notesSlide13.xml" Id="R99c42032110c477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84b1ac58264035" /><Relationship Type="http://schemas.openxmlformats.org/officeDocument/2006/relationships/hyperlink" Target="https://www.lta.gov.sg/content/ltagov/en/newsroom/2020/4/news-releases/erp-charging-and-coe-bidding-continue-to-be-suspended-during-ext.html" TargetMode="External" Id="Rf1383e9cc24e4414" /><Relationship Type="http://schemas.openxmlformats.org/officeDocument/2006/relationships/hyperlink" Target="https://www.lta.gov.sg/content/dam/ltagov/who_we_are/statistics_and_publications/statistics/pdf/PT_Ridership_Yearly_2015-2025.pdf" TargetMode="External" Id="R3e8c71836a60498c" /><Relationship Type="http://schemas.openxmlformats.org/officeDocument/2006/relationships/hyperlink" Target="https://www.iea.org/articles/changes-in-transport-behaviour-during-the-covid-19-crisis" TargetMode="External" Id="R62ab600372bc4f7f" /><Relationship Type="http://schemas.openxmlformats.org/officeDocument/2006/relationships/notesSlide" Target="/ppt/notesSlides/notesSlide14.xml" Id="Rb052761db6fb444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f7890feab54863" /><Relationship Type="http://schemas.openxmlformats.org/officeDocument/2006/relationships/hyperlink" Target="https://www.mot.gov.sg/what-we-do/motoring-road-network-and-infrastructure/vehicle-ownership/" TargetMode="External" Id="R70ea1319f0dc4b1a" /><Relationship Type="http://schemas.openxmlformats.org/officeDocument/2006/relationships/hyperlink" Target="https://www.population.gov.sg/our-population/population-trends/overall-population/" TargetMode="External" Id="Reb28b061b1f04091" /><Relationship Type="http://schemas.openxmlformats.org/officeDocument/2006/relationships/notesSlide" Target="/ppt/notesSlides/notesSlide15.xml" Id="Ra7c809b1a1cf499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26940f4e5f4165" /><Relationship Type="http://schemas.openxmlformats.org/officeDocument/2006/relationships/hyperlink" Target="https://www.mas.gov.sg/news/speeches/2025/speech-by-deputy-chairman-at-wmi-global-asia-family-office-summit-on-29-september-2025" TargetMode="External" Id="R15db3ba37acc47e6" /><Relationship Type="http://schemas.openxmlformats.org/officeDocument/2006/relationships/hyperlink" Target="https://www.businesstimes.com.sg/companies-markets/whats-driving-surge-family-office-foundations-singapore-and-it-just-tax-perks" TargetMode="External" Id="Redbc489341ec4490" /><Relationship Type="http://schemas.openxmlformats.org/officeDocument/2006/relationships/notesSlide" Target="/ppt/notesSlides/notesSlide16.xml" Id="Rc7dc86dfebdb4b03" /></Relationships>
</file>

<file path=ppt/slides/charts/chart1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72033"/>
                </a:solidFill>
              </a:rPr>
              <a:t>Average COE premium by year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72033"/>
              </a:solidFill>
            </a:defRPr>
          </a:pPr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Category A premium</c:v>
          </c:tx>
          <c:spPr>
            <a:ln xmlns:a="http://schemas.openxmlformats.org/drawingml/2006/main" w="28575">
              <a:solidFill>
                <a:srgbClr val="0E7C7B"/>
              </a:solidFill>
              <a:prstDash val="solid"/>
            </a:ln>
          </c:spPr>
          <c:marker>
            <c:symbol val="none"/>
          </c:marke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0"/>
            </c:strLit>
          </c:cat>
          <c:val>
            <c:numLit>
              <c:formatCode>$#,##0</c:formatCode>
              <c:ptCount val="17"/>
              <c:pt idx="0">
                <c:v>30405</c:v>
              </c:pt>
              <c:pt idx="1">
                <c:v>48206</c:v>
              </c:pt>
              <c:pt idx="2">
                <c:v>63898</c:v>
              </c:pt>
              <c:pt idx="3">
                <c:v>74690</c:v>
              </c:pt>
              <c:pt idx="4">
                <c:v>67675</c:v>
              </c:pt>
              <c:pt idx="5">
                <c:v>60601</c:v>
              </c:pt>
              <c:pt idx="6">
                <c:v>49587</c:v>
              </c:pt>
              <c:pt idx="7">
                <c:v>45991</c:v>
              </c:pt>
              <c:pt idx="8">
                <c:v>33038</c:v>
              </c:pt>
              <c:pt idx="9">
                <c:v>29907</c:v>
              </c:pt>
              <c:pt idx="10">
                <c:v>35404</c:v>
              </c:pt>
              <c:pt idx="11">
                <c:v>47425</c:v>
              </c:pt>
              <c:pt idx="12">
                <c:v>75809</c:v>
              </c:pt>
              <c:pt idx="13">
                <c:v>94538</c:v>
              </c:pt>
              <c:pt idx="14">
                <c:v>90495</c:v>
              </c:pt>
              <c:pt idx="15">
                <c:v>102912</c:v>
              </c:pt>
              <c:pt idx="16">
                <c:v>115361</c:v>
              </c:pt>
            </c:numLit>
          </c:val>
          <c:smooth val="0"/>
        </c:ser>
        <c:ser>
          <c:idx val="1"/>
          <c:order val="1"/>
          <c:tx>
            <c:v>Category B premium</c:v>
          </c:tx>
          <c:spPr>
            <a:ln xmlns:a="http://schemas.openxmlformats.org/drawingml/2006/main" w="28575">
              <a:solidFill>
                <a:srgbClr val="E85D4F"/>
              </a:solidFill>
              <a:prstDash val="solid"/>
            </a:ln>
          </c:spPr>
          <c:marker>
            <c:symbol val="none"/>
          </c:marke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0"/>
            </c:strLit>
          </c:cat>
          <c:val>
            <c:numLit>
              <c:formatCode>$#,##0</c:formatCode>
              <c:ptCount val="17"/>
              <c:pt idx="0">
                <c:v>39834</c:v>
              </c:pt>
              <c:pt idx="1">
                <c:v>64938</c:v>
              </c:pt>
              <c:pt idx="2">
                <c:v>84431</c:v>
              </c:pt>
              <c:pt idx="3">
                <c:v>78712</c:v>
              </c:pt>
              <c:pt idx="4">
                <c:v>73282</c:v>
              </c:pt>
              <c:pt idx="5">
                <c:v>66851</c:v>
              </c:pt>
              <c:pt idx="6">
                <c:v>52122</c:v>
              </c:pt>
              <c:pt idx="7">
                <c:v>51800</c:v>
              </c:pt>
              <c:pt idx="8">
                <c:v>35345</c:v>
              </c:pt>
              <c:pt idx="9">
                <c:v>38815</c:v>
              </c:pt>
              <c:pt idx="10">
                <c:v>38155</c:v>
              </c:pt>
              <c:pt idx="11">
                <c:v>61223</c:v>
              </c:pt>
              <c:pt idx="12">
                <c:v>100946</c:v>
              </c:pt>
              <c:pt idx="13">
                <c:v>121801</c:v>
              </c:pt>
              <c:pt idx="14">
                <c:v>103730</c:v>
              </c:pt>
              <c:pt idx="15">
                <c:v>120748</c:v>
              </c:pt>
              <c:pt idx="16">
                <c:v>119535</c:v>
              </c:pt>
            </c:numLit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numFmt formatCode="$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charts/chart2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72033"/>
                </a:solidFill>
              </a:rPr>
              <a:t>Average quota per bidding exercise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72033"/>
              </a:solidFill>
            </a:defRPr>
          </a:pPr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Category A quota</c:v>
          </c:tx>
          <c:spPr>
            <a:ln xmlns:a="http://schemas.openxmlformats.org/drawingml/2006/main" w="28575">
              <a:solidFill>
                <a:srgbClr val="0E7C7B"/>
              </a:solidFill>
              <a:prstDash val="solid"/>
            </a:ln>
          </c:spPr>
          <c:marker>
            <c:symbol val="none"/>
          </c:marke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0"/>
            </c:strLit>
          </c:cat>
          <c:val>
            <c:numLit>
              <c:formatCode>#,##0</c:formatCode>
              <c:ptCount val="17"/>
              <c:pt idx="0">
                <c:v>781</c:v>
              </c:pt>
              <c:pt idx="1">
                <c:v>543</c:v>
              </c:pt>
              <c:pt idx="2">
                <c:v>538</c:v>
              </c:pt>
              <c:pt idx="3">
                <c:v>356</c:v>
              </c:pt>
              <c:pt idx="4">
                <c:v>510</c:v>
              </c:pt>
              <c:pt idx="5">
                <c:v>1369</c:v>
              </c:pt>
              <c:pt idx="6">
                <c:v>2031</c:v>
              </c:pt>
              <c:pt idx="7">
                <c:v>1887</c:v>
              </c:pt>
              <c:pt idx="8">
                <c:v>1620</c:v>
              </c:pt>
              <c:pt idx="9">
                <c:v>1369</c:v>
              </c:pt>
              <c:pt idx="10">
                <c:v>1024</c:v>
              </c:pt>
              <c:pt idx="11">
                <c:v>805</c:v>
              </c:pt>
              <c:pt idx="12">
                <c:v>549</c:v>
              </c:pt>
              <c:pt idx="13">
                <c:v>635</c:v>
              </c:pt>
              <c:pt idx="14">
                <c:v>980</c:v>
              </c:pt>
              <c:pt idx="15">
                <c:v>1220</c:v>
              </c:pt>
              <c:pt idx="16">
                <c:v>1270</c:v>
              </c:pt>
            </c:numLit>
          </c:val>
          <c:smooth val="0"/>
        </c:ser>
        <c:ser>
          <c:idx val="1"/>
          <c:order val="1"/>
          <c:tx>
            <c:v>Category B quota</c:v>
          </c:tx>
          <c:spPr>
            <a:ln xmlns:a="http://schemas.openxmlformats.org/drawingml/2006/main" w="28575">
              <a:solidFill>
                <a:srgbClr val="E85D4F"/>
              </a:solidFill>
              <a:prstDash val="solid"/>
            </a:ln>
          </c:spPr>
          <c:marker>
            <c:symbol val="none"/>
          </c:marke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0"/>
            </c:strLit>
          </c:cat>
          <c:val>
            <c:numLit>
              <c:formatCode>#,##0</c:formatCode>
              <c:ptCount val="17"/>
              <c:pt idx="0">
                <c:v>561</c:v>
              </c:pt>
              <c:pt idx="1">
                <c:v>403</c:v>
              </c:pt>
              <c:pt idx="2">
                <c:v>352</c:v>
              </c:pt>
              <c:pt idx="3">
                <c:v>343</c:v>
              </c:pt>
              <c:pt idx="4">
                <c:v>467</c:v>
              </c:pt>
              <c:pt idx="5">
                <c:v>899</c:v>
              </c:pt>
              <c:pt idx="6">
                <c:v>1307</c:v>
              </c:pt>
              <c:pt idx="7">
                <c:v>1328</c:v>
              </c:pt>
              <c:pt idx="8">
                <c:v>1313</c:v>
              </c:pt>
              <c:pt idx="9">
                <c:v>1123</c:v>
              </c:pt>
              <c:pt idx="10">
                <c:v>997</c:v>
              </c:pt>
              <c:pt idx="11">
                <c:v>821</c:v>
              </c:pt>
              <c:pt idx="12">
                <c:v>507</c:v>
              </c:pt>
              <c:pt idx="13">
                <c:v>483</c:v>
              </c:pt>
              <c:pt idx="14">
                <c:v>670</c:v>
              </c:pt>
              <c:pt idx="15">
                <c:v>777</c:v>
              </c:pt>
              <c:pt idx="16">
                <c:v>836</c:v>
              </c:pt>
            </c:numLit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charts/chart3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72033"/>
                </a:solidFill>
              </a:rPr>
              <a:t>Premium vs quota index by year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72033"/>
              </a:solidFill>
            </a:defRPr>
          </a:pPr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Cat A premium index</c:v>
          </c:tx>
          <c:spPr>
            <a:ln xmlns:a="http://schemas.openxmlformats.org/drawingml/2006/main" w="28575">
              <a:solidFill>
                <a:srgbClr val="00857A"/>
              </a:solidFill>
              <a:prstDash val="solid"/>
            </a:ln>
          </c:spPr>
          <c:marker>
            <c:symbol val="none"/>
          </c:marke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0"/>
            </c:strLit>
          </c:cat>
          <c:val>
            <c:numLit>
              <c:formatCode>0</c:formatCode>
              <c:ptCount val="17"/>
              <c:pt idx="0">
                <c:v>100</c:v>
              </c:pt>
              <c:pt idx="1">
                <c:v>159</c:v>
              </c:pt>
              <c:pt idx="2">
                <c:v>210</c:v>
              </c:pt>
              <c:pt idx="3">
                <c:v>246</c:v>
              </c:pt>
              <c:pt idx="4">
                <c:v>223</c:v>
              </c:pt>
              <c:pt idx="5">
                <c:v>199</c:v>
              </c:pt>
              <c:pt idx="6">
                <c:v>163</c:v>
              </c:pt>
              <c:pt idx="7">
                <c:v>151</c:v>
              </c:pt>
              <c:pt idx="8">
                <c:v>109</c:v>
              </c:pt>
              <c:pt idx="9">
                <c:v>98</c:v>
              </c:pt>
              <c:pt idx="10">
                <c:v>116</c:v>
              </c:pt>
              <c:pt idx="11">
                <c:v>156</c:v>
              </c:pt>
              <c:pt idx="12">
                <c:v>249</c:v>
              </c:pt>
              <c:pt idx="13">
                <c:v>311</c:v>
              </c:pt>
              <c:pt idx="14">
                <c:v>298</c:v>
              </c:pt>
              <c:pt idx="15">
                <c:v>338</c:v>
              </c:pt>
              <c:pt idx="16">
                <c:v>379</c:v>
              </c:pt>
            </c:numLit>
          </c:val>
          <c:smooth val="0"/>
        </c:ser>
        <c:ser>
          <c:idx val="1"/>
          <c:order val="1"/>
          <c:tx>
            <c:v>Cat A quota index</c:v>
          </c:tx>
          <c:spPr>
            <a:ln xmlns:a="http://schemas.openxmlformats.org/drawingml/2006/main" w="28575">
              <a:solidFill>
                <a:srgbClr val="75C7BE"/>
              </a:solidFill>
              <a:prstDash val="solid"/>
            </a:ln>
          </c:spPr>
          <c:marker>
            <c:symbol val="none"/>
          </c:marke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0"/>
            </c:strLit>
          </c:cat>
          <c:val>
            <c:numLit>
              <c:formatCode>0</c:formatCode>
              <c:ptCount val="17"/>
              <c:pt idx="0">
                <c:v>100</c:v>
              </c:pt>
              <c:pt idx="1">
                <c:v>70</c:v>
              </c:pt>
              <c:pt idx="2">
                <c:v>69</c:v>
              </c:pt>
              <c:pt idx="3">
                <c:v>46</c:v>
              </c:pt>
              <c:pt idx="4">
                <c:v>65</c:v>
              </c:pt>
              <c:pt idx="5">
                <c:v>175</c:v>
              </c:pt>
              <c:pt idx="6">
                <c:v>260</c:v>
              </c:pt>
              <c:pt idx="7">
                <c:v>242</c:v>
              </c:pt>
              <c:pt idx="8">
                <c:v>208</c:v>
              </c:pt>
              <c:pt idx="9">
                <c:v>175</c:v>
              </c:pt>
              <c:pt idx="10">
                <c:v>131</c:v>
              </c:pt>
              <c:pt idx="11">
                <c:v>103</c:v>
              </c:pt>
              <c:pt idx="12">
                <c:v>70</c:v>
              </c:pt>
              <c:pt idx="13">
                <c:v>81</c:v>
              </c:pt>
              <c:pt idx="14">
                <c:v>126</c:v>
              </c:pt>
              <c:pt idx="15">
                <c:v>156</c:v>
              </c:pt>
              <c:pt idx="16">
                <c:v>163</c:v>
              </c:pt>
            </c:numLit>
          </c:val>
          <c:smooth val="0"/>
        </c:ser>
        <c:ser>
          <c:idx val="2"/>
          <c:order val="2"/>
          <c:tx>
            <c:v>Cat B premium index</c:v>
          </c:tx>
          <c:spPr>
            <a:ln xmlns:a="http://schemas.openxmlformats.org/drawingml/2006/main" w="28575">
              <a:solidFill>
                <a:srgbClr val="E97132"/>
              </a:solidFill>
              <a:prstDash val="solid"/>
            </a:ln>
          </c:spPr>
          <c:marker>
            <c:symbol val="none"/>
          </c:marke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0"/>
            </c:strLit>
          </c:cat>
          <c:val>
            <c:numLit>
              <c:formatCode>0</c:formatCode>
              <c:ptCount val="17"/>
              <c:pt idx="0">
                <c:v>100</c:v>
              </c:pt>
              <c:pt idx="1">
                <c:v>163</c:v>
              </c:pt>
              <c:pt idx="2">
                <c:v>212</c:v>
              </c:pt>
              <c:pt idx="3">
                <c:v>198</c:v>
              </c:pt>
              <c:pt idx="4">
                <c:v>184</c:v>
              </c:pt>
              <c:pt idx="5">
                <c:v>168</c:v>
              </c:pt>
              <c:pt idx="6">
                <c:v>131</c:v>
              </c:pt>
              <c:pt idx="7">
                <c:v>130</c:v>
              </c:pt>
              <c:pt idx="8">
                <c:v>89</c:v>
              </c:pt>
              <c:pt idx="9">
                <c:v>97</c:v>
              </c:pt>
              <c:pt idx="10">
                <c:v>96</c:v>
              </c:pt>
              <c:pt idx="11">
                <c:v>154</c:v>
              </c:pt>
              <c:pt idx="12">
                <c:v>253</c:v>
              </c:pt>
              <c:pt idx="13">
                <c:v>306</c:v>
              </c:pt>
              <c:pt idx="14">
                <c:v>260</c:v>
              </c:pt>
              <c:pt idx="15">
                <c:v>303</c:v>
              </c:pt>
              <c:pt idx="16">
                <c:v>300</c:v>
              </c:pt>
            </c:numLit>
          </c:val>
          <c:smooth val="0"/>
        </c:ser>
        <c:ser>
          <c:idx val="3"/>
          <c:order val="3"/>
          <c:tx>
            <c:v>Cat B quota index</c:v>
          </c:tx>
          <c:spPr>
            <a:ln xmlns:a="http://schemas.openxmlformats.org/drawingml/2006/main" w="28575">
              <a:solidFill>
                <a:srgbClr val="F2B084"/>
              </a:solidFill>
              <a:prstDash val="solid"/>
            </a:ln>
          </c:spPr>
          <c:marker>
            <c:symbol val="none"/>
          </c:marke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0"/>
            </c:strLit>
          </c:cat>
          <c:val>
            <c:numLit>
              <c:formatCode>0</c:formatCode>
              <c:ptCount val="17"/>
              <c:pt idx="0">
                <c:v>100</c:v>
              </c:pt>
              <c:pt idx="1">
                <c:v>72</c:v>
              </c:pt>
              <c:pt idx="2">
                <c:v>63</c:v>
              </c:pt>
              <c:pt idx="3">
                <c:v>61</c:v>
              </c:pt>
              <c:pt idx="4">
                <c:v>83</c:v>
              </c:pt>
              <c:pt idx="5">
                <c:v>160</c:v>
              </c:pt>
              <c:pt idx="6">
                <c:v>233</c:v>
              </c:pt>
              <c:pt idx="7">
                <c:v>237</c:v>
              </c:pt>
              <c:pt idx="8">
                <c:v>234</c:v>
              </c:pt>
              <c:pt idx="9">
                <c:v>200</c:v>
              </c:pt>
              <c:pt idx="10">
                <c:v>178</c:v>
              </c:pt>
              <c:pt idx="11">
                <c:v>146</c:v>
              </c:pt>
              <c:pt idx="12">
                <c:v>90</c:v>
              </c:pt>
              <c:pt idx="13">
                <c:v>86</c:v>
              </c:pt>
              <c:pt idx="14">
                <c:v>119</c:v>
              </c:pt>
              <c:pt idx="15">
                <c:v>139</c:v>
              </c:pt>
              <c:pt idx="16">
                <c:v>149</c:v>
              </c:pt>
            </c:numLit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6475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5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EF4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5B6475"/>
                    </a:solidFill>
                  </a:rPr>
                  <a:t>Index (2010 =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5B6475"/>
                  </a:solidFill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0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6475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5B6475"/>
              </a:solidFill>
            </a:defRPr>
          </a:pPr>
        </a:p>
      </c:txPr>
    </c:legend>
    <c:plotVisOnly val="1"/>
  </c:chart>
  <c:spPr>
    <a:noFill xmlns:a="http://schemas.openxmlformats.org/drawingml/2006/main"/>
  </c:spPr>
</c:chartSpace>
</file>

<file path=ppt/slides/charts/chart4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72033"/>
                </a:solidFill>
              </a:rPr>
              <a:t>Premium vs bid pressure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72033"/>
              </a:solidFill>
            </a:defRPr>
          </a:pPr>
        </a:p>
      </c:txPr>
    </c:title>
    <c:autoTitleDeleted val="0"/>
    <c:plotArea>
      <c:layout/>
      <c:scatterChart>
        <c:scatterStyle val="marker"/>
        <c:ser>
          <c:idx val="0"/>
          <c:order val="0"/>
          <c:tx>
            <c:v>Category A</c:v>
          </c:tx>
          <c:spPr>
            <a:solidFill xmlns:a="http://schemas.openxmlformats.org/drawingml/2006/main">
              <a:srgbClr val="0E7C7B"/>
            </a:solidFill>
            <a:ln xmlns:a="http://schemas.openxmlformats.org/drawingml/2006/main" w="0">
              <a:noFill/>
              <a:prstDash val="solid"/>
            </a:ln>
          </c:spPr>
          <c:marker>
            <c:symbol val="circle"/>
            <c:size val="5"/>
          </c:marke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Lit>
              <c:formatCode>General</c:formatCode>
              <c:ptCount val="0"/>
            </c:numLit>
          </c:xVal>
          <c:yVal>
            <c:numLit>
              <c:formatCode>$#,##0</c:formatCode>
              <c:ptCount val="97"/>
              <c:pt idx="0">
                <c:v>18502</c:v>
              </c:pt>
              <c:pt idx="1">
                <c:v>20802</c:v>
              </c:pt>
              <c:pt idx="2">
                <c:v>26102</c:v>
              </c:pt>
              <c:pt idx="3">
                <c:v>29501</c:v>
              </c:pt>
              <c:pt idx="4">
                <c:v>33089</c:v>
              </c:pt>
              <c:pt idx="5">
                <c:v>34001</c:v>
              </c:pt>
              <c:pt idx="6">
                <c:v>38889</c:v>
              </c:pt>
              <c:pt idx="7">
                <c:v>42600</c:v>
              </c:pt>
              <c:pt idx="8">
                <c:v>44790</c:v>
              </c:pt>
              <c:pt idx="9">
                <c:v>55989</c:v>
              </c:pt>
              <c:pt idx="10">
                <c:v>51000</c:v>
              </c:pt>
              <c:pt idx="11">
                <c:v>55997</c:v>
              </c:pt>
              <c:pt idx="12">
                <c:v>46889</c:v>
              </c:pt>
              <c:pt idx="13">
                <c:v>56551</c:v>
              </c:pt>
              <c:pt idx="14">
                <c:v>62600</c:v>
              </c:pt>
              <c:pt idx="15">
                <c:v>59421</c:v>
              </c:pt>
              <c:pt idx="16">
                <c:v>68000</c:v>
              </c:pt>
              <c:pt idx="17">
                <c:v>77201</c:v>
              </c:pt>
              <c:pt idx="18">
                <c:v>92100</c:v>
              </c:pt>
              <c:pt idx="19">
                <c:v>62999</c:v>
              </c:pt>
              <c:pt idx="20">
                <c:v>73100</c:v>
              </c:pt>
              <c:pt idx="21">
                <c:v>77304</c:v>
              </c:pt>
              <c:pt idx="22">
                <c:v>72609</c:v>
              </c:pt>
              <c:pt idx="23">
                <c:v>72369</c:v>
              </c:pt>
              <c:pt idx="24">
                <c:v>76999</c:v>
              </c:pt>
              <c:pt idx="25">
                <c:v>60002</c:v>
              </c:pt>
              <c:pt idx="26">
                <c:v>61990</c:v>
              </c:pt>
              <c:pt idx="27">
                <c:v>64841</c:v>
              </c:pt>
              <c:pt idx="28">
                <c:v>64900</c:v>
              </c:pt>
              <c:pt idx="29">
                <c:v>66010</c:v>
              </c:pt>
              <c:pt idx="30">
                <c:v>61410</c:v>
              </c:pt>
              <c:pt idx="31">
                <c:v>68589</c:v>
              </c:pt>
              <c:pt idx="32">
                <c:v>58700</c:v>
              </c:pt>
              <c:pt idx="33">
                <c:v>57089</c:v>
              </c:pt>
              <c:pt idx="34">
                <c:v>56001</c:v>
              </c:pt>
              <c:pt idx="35">
                <c:v>45002</c:v>
              </c:pt>
              <c:pt idx="36">
                <c:v>45000</c:v>
              </c:pt>
              <c:pt idx="37">
                <c:v>47889</c:v>
              </c:pt>
              <c:pt idx="38">
                <c:v>52301</c:v>
              </c:pt>
              <c:pt idx="39">
                <c:v>51506</c:v>
              </c:pt>
              <c:pt idx="40">
                <c:v>52668</c:v>
              </c:pt>
              <c:pt idx="41">
                <c:v>50101</c:v>
              </c:pt>
              <c:pt idx="42">
                <c:v>50789</c:v>
              </c:pt>
              <c:pt idx="43">
                <c:v>51106</c:v>
              </c:pt>
              <c:pt idx="44">
                <c:v>42801</c:v>
              </c:pt>
              <c:pt idx="45">
                <c:v>36001</c:v>
              </c:pt>
              <c:pt idx="46">
                <c:v>47112</c:v>
              </c:pt>
              <c:pt idx="47">
                <c:v>41400</c:v>
              </c:pt>
              <c:pt idx="48">
                <c:v>38830</c:v>
              </c:pt>
              <c:pt idx="49">
                <c:v>38941</c:v>
              </c:pt>
              <c:pt idx="50">
                <c:v>25000</c:v>
              </c:pt>
              <c:pt idx="51">
                <c:v>30209</c:v>
              </c:pt>
              <c:pt idx="52">
                <c:v>28199</c:v>
              </c:pt>
              <c:pt idx="53">
                <c:v>25920</c:v>
              </c:pt>
              <c:pt idx="54">
                <c:v>26309</c:v>
              </c:pt>
              <c:pt idx="55">
                <c:v>36704</c:v>
              </c:pt>
              <c:pt idx="56">
                <c:v>28589</c:v>
              </c:pt>
              <c:pt idx="57">
                <c:v>31783</c:v>
              </c:pt>
              <c:pt idx="58">
                <c:v>30000</c:v>
              </c:pt>
              <c:pt idx="59">
                <c:v>35320</c:v>
              </c:pt>
              <c:pt idx="60">
                <c:v>32699</c:v>
              </c:pt>
              <c:pt idx="61">
                <c:v>33000</c:v>
              </c:pt>
              <c:pt idx="62">
                <c:v>36534</c:v>
              </c:pt>
              <c:pt idx="63">
                <c:v>40714</c:v>
              </c:pt>
              <c:pt idx="64">
                <c:v>42000</c:v>
              </c:pt>
              <c:pt idx="65">
                <c:v>45600</c:v>
              </c:pt>
              <c:pt idx="66">
                <c:v>48510</c:v>
              </c:pt>
              <c:pt idx="67">
                <c:v>45189</c:v>
              </c:pt>
              <c:pt idx="68">
                <c:v>47001</c:v>
              </c:pt>
              <c:pt idx="69">
                <c:v>57010</c:v>
              </c:pt>
              <c:pt idx="70">
                <c:v>60761</c:v>
              </c:pt>
              <c:pt idx="71">
                <c:v>72996</c:v>
              </c:pt>
              <c:pt idx="72">
                <c:v>73801</c:v>
              </c:pt>
              <c:pt idx="73">
                <c:v>80000</c:v>
              </c:pt>
              <c:pt idx="74">
                <c:v>80501</c:v>
              </c:pt>
              <c:pt idx="75">
                <c:v>88503</c:v>
              </c:pt>
              <c:pt idx="76">
                <c:v>86000</c:v>
              </c:pt>
              <c:pt idx="77">
                <c:v>96501</c:v>
              </c:pt>
              <c:pt idx="78">
                <c:v>98001</c:v>
              </c:pt>
              <c:pt idx="79">
                <c:v>99499</c:v>
              </c:pt>
              <c:pt idx="80">
                <c:v>104000</c:v>
              </c:pt>
              <c:pt idx="81">
                <c:v>88020</c:v>
              </c:pt>
              <c:pt idx="82">
                <c:v>79000</c:v>
              </c:pt>
              <c:pt idx="83">
                <c:v>89000</c:v>
              </c:pt>
              <c:pt idx="84">
                <c:v>88200</c:v>
              </c:pt>
              <c:pt idx="85">
                <c:v>94289</c:v>
              </c:pt>
              <c:pt idx="86">
                <c:v>103799</c:v>
              </c:pt>
              <c:pt idx="87">
                <c:v>94000</c:v>
              </c:pt>
              <c:pt idx="88">
                <c:v>85000</c:v>
              </c:pt>
              <c:pt idx="89">
                <c:v>97724</c:v>
              </c:pt>
              <c:pt idx="90">
                <c:v>96999</c:v>
              </c:pt>
              <c:pt idx="91">
                <c:v>102009</c:v>
              </c:pt>
              <c:pt idx="92">
                <c:v>128105</c:v>
              </c:pt>
              <c:pt idx="93">
                <c:v>105413</c:v>
              </c:pt>
              <c:pt idx="94">
                <c:v>106320</c:v>
              </c:pt>
              <c:pt idx="95">
                <c:v>118000</c:v>
              </c:pt>
              <c:pt idx="96">
                <c:v>126009</c:v>
              </c:pt>
            </c:numLit>
          </c:yVal>
        </c:ser>
        <c:ser>
          <c:idx val="1"/>
          <c:order val="1"/>
          <c:tx>
            <c:v>Category B</c:v>
          </c:tx>
          <c:spPr>
            <a:solidFill xmlns:a="http://schemas.openxmlformats.org/drawingml/2006/main">
              <a:srgbClr val="E85D4F"/>
            </a:solidFill>
            <a:ln xmlns:a="http://schemas.openxmlformats.org/drawingml/2006/main" w="0">
              <a:noFill/>
              <a:prstDash val="solid"/>
            </a:ln>
          </c:spPr>
          <c:marker>
            <c:symbol val="circle"/>
            <c:size val="5"/>
          </c:marke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Lit>
              <c:formatCode>General</c:formatCode>
              <c:ptCount val="0"/>
            </c:numLit>
          </c:xVal>
          <c:yVal>
            <c:numLit>
              <c:formatCode>$#,##0</c:formatCode>
              <c:ptCount val="97"/>
              <c:pt idx="0">
                <c:v>19190</c:v>
              </c:pt>
              <c:pt idx="1">
                <c:v>26389</c:v>
              </c:pt>
              <c:pt idx="2">
                <c:v>38000</c:v>
              </c:pt>
              <c:pt idx="3">
                <c:v>35909</c:v>
              </c:pt>
              <c:pt idx="4">
                <c:v>44129</c:v>
              </c:pt>
              <c:pt idx="5">
                <c:v>45501</c:v>
              </c:pt>
              <c:pt idx="6">
                <c:v>69000</c:v>
              </c:pt>
              <c:pt idx="7">
                <c:v>61894</c:v>
              </c:pt>
              <c:pt idx="8">
                <c:v>56011</c:v>
              </c:pt>
              <c:pt idx="9">
                <c:v>68501</c:v>
              </c:pt>
              <c:pt idx="10">
                <c:v>63002</c:v>
              </c:pt>
              <c:pt idx="11">
                <c:v>77000</c:v>
              </c:pt>
              <c:pt idx="12">
                <c:v>65801</c:v>
              </c:pt>
              <c:pt idx="13">
                <c:v>79304</c:v>
              </c:pt>
              <c:pt idx="14">
                <c:v>92050</c:v>
              </c:pt>
              <c:pt idx="15">
                <c:v>82289</c:v>
              </c:pt>
              <c:pt idx="16">
                <c:v>80191</c:v>
              </c:pt>
              <c:pt idx="17">
                <c:v>92400</c:v>
              </c:pt>
              <c:pt idx="18">
                <c:v>96210</c:v>
              </c:pt>
              <c:pt idx="19">
                <c:v>61700</c:v>
              </c:pt>
              <c:pt idx="20">
                <c:v>77110</c:v>
              </c:pt>
              <c:pt idx="21">
                <c:v>77100</c:v>
              </c:pt>
              <c:pt idx="22">
                <c:v>84578</c:v>
              </c:pt>
              <c:pt idx="23">
                <c:v>78700</c:v>
              </c:pt>
              <c:pt idx="24">
                <c:v>80710</c:v>
              </c:pt>
              <c:pt idx="25">
                <c:v>70002</c:v>
              </c:pt>
              <c:pt idx="26">
                <c:v>64889</c:v>
              </c:pt>
              <c:pt idx="27">
                <c:v>73010</c:v>
              </c:pt>
              <c:pt idx="28">
                <c:v>70890</c:v>
              </c:pt>
              <c:pt idx="29">
                <c:v>75289</c:v>
              </c:pt>
              <c:pt idx="30">
                <c:v>68668</c:v>
              </c:pt>
              <c:pt idx="31">
                <c:v>77600</c:v>
              </c:pt>
              <c:pt idx="32">
                <c:v>65501</c:v>
              </c:pt>
              <c:pt idx="33">
                <c:v>62101</c:v>
              </c:pt>
              <c:pt idx="34">
                <c:v>57501</c:v>
              </c:pt>
              <c:pt idx="35">
                <c:v>54920</c:v>
              </c:pt>
              <c:pt idx="36">
                <c:v>47604</c:v>
              </c:pt>
              <c:pt idx="37">
                <c:v>51010</c:v>
              </c:pt>
              <c:pt idx="38">
                <c:v>56089</c:v>
              </c:pt>
              <c:pt idx="39">
                <c:v>57002</c:v>
              </c:pt>
              <c:pt idx="40">
                <c:v>56206</c:v>
              </c:pt>
              <c:pt idx="41">
                <c:v>53106</c:v>
              </c:pt>
              <c:pt idx="42">
                <c:v>53300</c:v>
              </c:pt>
              <c:pt idx="43">
                <c:v>55414</c:v>
              </c:pt>
              <c:pt idx="44">
                <c:v>49802</c:v>
              </c:pt>
              <c:pt idx="45">
                <c:v>49000</c:v>
              </c:pt>
              <c:pt idx="46">
                <c:v>57414</c:v>
              </c:pt>
              <c:pt idx="47">
                <c:v>45289</c:v>
              </c:pt>
              <c:pt idx="48">
                <c:v>39001</c:v>
              </c:pt>
              <c:pt idx="49">
                <c:v>38501</c:v>
              </c:pt>
              <c:pt idx="50">
                <c:v>31000</c:v>
              </c:pt>
              <c:pt idx="51">
                <c:v>32001</c:v>
              </c:pt>
              <c:pt idx="52">
                <c:v>32302</c:v>
              </c:pt>
              <c:pt idx="53">
                <c:v>32200</c:v>
              </c:pt>
              <c:pt idx="54">
                <c:v>36961</c:v>
              </c:pt>
              <c:pt idx="55">
                <c:v>48010</c:v>
              </c:pt>
              <c:pt idx="56">
                <c:v>34000</c:v>
              </c:pt>
              <c:pt idx="57">
                <c:v>36001</c:v>
              </c:pt>
              <c:pt idx="58">
                <c:v>40009</c:v>
              </c:pt>
              <c:pt idx="59">
                <c:v>37109</c:v>
              </c:pt>
              <c:pt idx="60">
                <c:v>32801</c:v>
              </c:pt>
              <c:pt idx="61">
                <c:v>37102</c:v>
              </c:pt>
              <c:pt idx="62">
                <c:v>40690</c:v>
              </c:pt>
              <c:pt idx="63">
                <c:v>45012</c:v>
              </c:pt>
              <c:pt idx="64">
                <c:v>46790</c:v>
              </c:pt>
              <c:pt idx="65">
                <c:v>52309</c:v>
              </c:pt>
              <c:pt idx="66">
                <c:v>60109</c:v>
              </c:pt>
              <c:pt idx="67">
                <c:v>56001</c:v>
              </c:pt>
              <c:pt idx="68">
                <c:v>70200</c:v>
              </c:pt>
              <c:pt idx="69">
                <c:v>80401</c:v>
              </c:pt>
              <c:pt idx="70">
                <c:v>86102</c:v>
              </c:pt>
              <c:pt idx="71">
                <c:v>98389</c:v>
              </c:pt>
              <c:pt idx="72">
                <c:v>100684</c:v>
              </c:pt>
              <c:pt idx="73">
                <c:v>107001</c:v>
              </c:pt>
              <c:pt idx="74">
                <c:v>95856</c:v>
              </c:pt>
              <c:pt idx="75">
                <c:v>105501</c:v>
              </c:pt>
              <c:pt idx="76">
                <c:v>105524</c:v>
              </c:pt>
              <c:pt idx="77">
                <c:v>118501</c:v>
              </c:pt>
              <c:pt idx="78">
                <c:v>120702</c:v>
              </c:pt>
              <c:pt idx="79">
                <c:v>126889</c:v>
              </c:pt>
              <c:pt idx="80">
                <c:v>146002</c:v>
              </c:pt>
              <c:pt idx="81">
                <c:v>130100</c:v>
              </c:pt>
              <c:pt idx="82">
                <c:v>102338</c:v>
              </c:pt>
              <c:pt idx="83">
                <c:v>101334</c:v>
              </c:pt>
              <c:pt idx="84">
                <c:v>100607</c:v>
              </c:pt>
              <c:pt idx="85">
                <c:v>106101</c:v>
              </c:pt>
              <c:pt idx="86">
                <c:v>116002</c:v>
              </c:pt>
              <c:pt idx="87">
                <c:v>103010</c:v>
              </c:pt>
              <c:pt idx="88">
                <c:v>111104</c:v>
              </c:pt>
              <c:pt idx="89">
                <c:v>117899</c:v>
              </c:pt>
              <c:pt idx="90">
                <c:v>113000</c:v>
              </c:pt>
              <c:pt idx="91">
                <c:v>123498</c:v>
              </c:pt>
              <c:pt idx="92">
                <c:v>141000</c:v>
              </c:pt>
              <c:pt idx="93">
                <c:v>123900</c:v>
              </c:pt>
              <c:pt idx="94">
                <c:v>110890</c:v>
              </c:pt>
              <c:pt idx="95">
                <c:v>121000</c:v>
              </c:pt>
              <c:pt idx="96">
                <c:v>126989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>
                    <a:solidFill>
                      <a:srgbClr val="5B6475"/>
                    </a:solidFill>
                  </a:rPr>
                  <a:t>COE premium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5B6475"/>
                  </a:solidFill>
                </a:defRPr>
              </a:pPr>
            </a:p>
          </c:txPr>
        </c:title>
        <c:numFmt formatCode="$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</c:valAx>
      <c:val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8E0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>
                    <a:solidFill>
                      <a:srgbClr val="5B6475"/>
                    </a:solidFill>
                  </a:rPr>
                  <a:t>Bids received per certificate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5B6475"/>
                  </a:solidFill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</c:valAx>
    </c:plotArea>
    <c:legend>
      <c:legendPos val="b"/>
      <c:overlay val="0"/>
    </c:legend>
    <c:plotVisOnly val="1"/>
  </c:chart>
</c:chartSpace>
</file>

<file path=ppt/slides/charts/chart5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72033"/>
                </a:solidFill>
              </a:rPr>
              <a:t>Holdout period: 2024 onward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72033"/>
              </a:solidFill>
            </a:defRPr>
          </a:pPr>
        </a:p>
      </c:txPr>
    </c:title>
    <c:autoTitleDeleted val="0"/>
    <c:plotArea>
      <c:layout/>
      <c:scatterChart>
        <c:scatterStyle val="marker"/>
        <c:ser>
          <c:idx val="0"/>
          <c:order val="0"/>
          <c:tx>
            <c:v>Category A</c:v>
          </c:tx>
          <c:spPr>
            <a:solidFill xmlns:a="http://schemas.openxmlformats.org/drawingml/2006/main">
              <a:srgbClr val="0E7C7B"/>
            </a:solidFill>
            <a:ln xmlns:a="http://schemas.openxmlformats.org/drawingml/2006/main" w="0">
              <a:noFill/>
              <a:prstDash val="solid"/>
            </a:ln>
          </c:spPr>
          <c:marker>
            <c:symbol val="circle"/>
            <c:size val="6"/>
          </c:marke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Lit>
              <c:formatCode>General</c:formatCode>
              <c:ptCount val="0"/>
            </c:numLit>
          </c:xVal>
          <c:yVal>
            <c:numLit>
              <c:formatCode>$#,##0</c:formatCode>
              <c:ptCount val="60"/>
              <c:pt idx="0">
                <c:v>82877</c:v>
              </c:pt>
              <c:pt idx="1">
                <c:v>69214</c:v>
              </c:pt>
              <c:pt idx="2">
                <c:v>85182</c:v>
              </c:pt>
              <c:pt idx="3">
                <c:v>83188</c:v>
              </c:pt>
              <c:pt idx="4">
                <c:v>79743</c:v>
              </c:pt>
              <c:pt idx="5">
                <c:v>87258</c:v>
              </c:pt>
              <c:pt idx="6">
                <c:v>88433</c:v>
              </c:pt>
              <c:pt idx="7">
                <c:v>89071</c:v>
              </c:pt>
              <c:pt idx="8">
                <c:v>94652</c:v>
              </c:pt>
              <c:pt idx="9">
                <c:v>93205</c:v>
              </c:pt>
              <c:pt idx="10">
                <c:v>92111</c:v>
              </c:pt>
              <c:pt idx="11">
                <c:v>87998</c:v>
              </c:pt>
              <c:pt idx="12">
                <c:v>90007</c:v>
              </c:pt>
              <c:pt idx="13">
                <c:v>89972</c:v>
              </c:pt>
              <c:pt idx="14">
                <c:v>91495</c:v>
              </c:pt>
              <c:pt idx="15">
                <c:v>92692</c:v>
              </c:pt>
              <c:pt idx="16">
                <c:v>91445</c:v>
              </c:pt>
              <c:pt idx="17">
                <c:v>95177</c:v>
              </c:pt>
              <c:pt idx="18">
                <c:v>98294</c:v>
              </c:pt>
              <c:pt idx="19">
                <c:v>102133</c:v>
              </c:pt>
              <c:pt idx="20">
                <c:v>99148</c:v>
              </c:pt>
              <c:pt idx="21">
                <c:v>97001</c:v>
              </c:pt>
              <c:pt idx="22">
                <c:v>88503</c:v>
              </c:pt>
              <c:pt idx="23">
                <c:v>93380</c:v>
              </c:pt>
              <c:pt idx="24">
                <c:v>93353</c:v>
              </c:pt>
              <c:pt idx="25">
                <c:v>92442</c:v>
              </c:pt>
              <c:pt idx="26">
                <c:v>90383</c:v>
              </c:pt>
              <c:pt idx="27">
                <c:v>88595</c:v>
              </c:pt>
              <c:pt idx="28">
                <c:v>94009</c:v>
              </c:pt>
              <c:pt idx="29">
                <c:v>94194</c:v>
              </c:pt>
              <c:pt idx="30">
                <c:v>96486</c:v>
              </c:pt>
              <c:pt idx="31">
                <c:v>100128</c:v>
              </c:pt>
              <c:pt idx="32">
                <c:v>100121</c:v>
              </c:pt>
              <c:pt idx="33">
                <c:v>102042</c:v>
              </c:pt>
              <c:pt idx="34">
                <c:v>98902</c:v>
              </c:pt>
              <c:pt idx="35">
                <c:v>94548</c:v>
              </c:pt>
              <c:pt idx="36">
                <c:v>96857</c:v>
              </c:pt>
              <c:pt idx="37">
                <c:v>100126</c:v>
              </c:pt>
              <c:pt idx="38">
                <c:v>98219</c:v>
              </c:pt>
              <c:pt idx="39">
                <c:v>101195</c:v>
              </c:pt>
              <c:pt idx="40">
                <c:v>101973</c:v>
              </c:pt>
              <c:pt idx="41">
                <c:v>110715</c:v>
              </c:pt>
              <c:pt idx="42">
                <c:v>120862</c:v>
              </c:pt>
              <c:pt idx="43">
                <c:v>125808</c:v>
              </c:pt>
              <c:pt idx="44">
                <c:v>116063</c:v>
              </c:pt>
              <c:pt idx="45">
                <c:v>105524</c:v>
              </c:pt>
              <c:pt idx="46">
                <c:v>103547</c:v>
              </c:pt>
              <c:pt idx="47">
                <c:v>101913</c:v>
              </c:pt>
              <c:pt idx="48">
                <c:v>104852</c:v>
              </c:pt>
              <c:pt idx="49">
                <c:v>103325</c:v>
              </c:pt>
              <c:pt idx="50">
                <c:v>107766</c:v>
              </c:pt>
              <c:pt idx="51">
                <c:v>105310</c:v>
              </c:pt>
              <c:pt idx="52">
                <c:v>103223</c:v>
              </c:pt>
              <c:pt idx="53">
                <c:v>106792</c:v>
              </c:pt>
              <c:pt idx="54">
                <c:v>113851</c:v>
              </c:pt>
              <c:pt idx="55">
                <c:v>119836</c:v>
              </c:pt>
              <c:pt idx="56">
                <c:v>120497</c:v>
              </c:pt>
              <c:pt idx="57">
                <c:v>125789</c:v>
              </c:pt>
              <c:pt idx="58">
                <c:v>122483</c:v>
              </c:pt>
              <c:pt idx="59">
                <c:v>122305</c:v>
              </c:pt>
            </c:numLit>
          </c:yVal>
        </c:ser>
        <c:ser>
          <c:idx val="1"/>
          <c:order val="1"/>
          <c:tx>
            <c:v>Category B</c:v>
          </c:tx>
          <c:spPr>
            <a:solidFill xmlns:a="http://schemas.openxmlformats.org/drawingml/2006/main">
              <a:srgbClr val="E85D4F"/>
            </a:solidFill>
            <a:ln xmlns:a="http://schemas.openxmlformats.org/drawingml/2006/main" w="0">
              <a:noFill/>
              <a:prstDash val="solid"/>
            </a:ln>
          </c:spPr>
          <c:marker>
            <c:symbol val="circle"/>
            <c:size val="6"/>
          </c:marke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Lit>
              <c:formatCode>General</c:formatCode>
              <c:ptCount val="0"/>
            </c:numLit>
          </c:xVal>
          <c:yVal>
            <c:numLit>
              <c:formatCode>$#,##0</c:formatCode>
              <c:ptCount val="60"/>
              <c:pt idx="0">
                <c:v>107807</c:v>
              </c:pt>
              <c:pt idx="1">
                <c:v>89989</c:v>
              </c:pt>
              <c:pt idx="2">
                <c:v>113970</c:v>
              </c:pt>
              <c:pt idx="3">
                <c:v>103949</c:v>
              </c:pt>
              <c:pt idx="4">
                <c:v>97202</c:v>
              </c:pt>
              <c:pt idx="5">
                <c:v>98122</c:v>
              </c:pt>
              <c:pt idx="6">
                <c:v>99111</c:v>
              </c:pt>
              <c:pt idx="7">
                <c:v>101649</c:v>
              </c:pt>
              <c:pt idx="8">
                <c:v>104968</c:v>
              </c:pt>
              <c:pt idx="9">
                <c:v>107186</c:v>
              </c:pt>
              <c:pt idx="10">
                <c:v>104521</c:v>
              </c:pt>
              <c:pt idx="11">
                <c:v>101854</c:v>
              </c:pt>
              <c:pt idx="12">
                <c:v>100529</c:v>
              </c:pt>
              <c:pt idx="13">
                <c:v>100170</c:v>
              </c:pt>
              <c:pt idx="14">
                <c:v>102048</c:v>
              </c:pt>
              <c:pt idx="15">
                <c:v>105912</c:v>
              </c:pt>
              <c:pt idx="16">
                <c:v>104417</c:v>
              </c:pt>
              <c:pt idx="17">
                <c:v>104976</c:v>
              </c:pt>
              <c:pt idx="18">
                <c:v>110535</c:v>
              </c:pt>
              <c:pt idx="19">
                <c:v>115481</c:v>
              </c:pt>
              <c:pt idx="20">
                <c:v>112905</c:v>
              </c:pt>
              <c:pt idx="21">
                <c:v>106108</c:v>
              </c:pt>
              <c:pt idx="22">
                <c:v>102165</c:v>
              </c:pt>
              <c:pt idx="23">
                <c:v>103260</c:v>
              </c:pt>
              <c:pt idx="24">
                <c:v>111837</c:v>
              </c:pt>
              <c:pt idx="25">
                <c:v>121794</c:v>
              </c:pt>
              <c:pt idx="26">
                <c:v>113682</c:v>
              </c:pt>
              <c:pt idx="27">
                <c:v>111428</c:v>
              </c:pt>
              <c:pt idx="28">
                <c:v>109584</c:v>
              </c:pt>
              <c:pt idx="29">
                <c:v>113984</c:v>
              </c:pt>
              <c:pt idx="30">
                <c:v>116468</c:v>
              </c:pt>
              <c:pt idx="31">
                <c:v>117308</c:v>
              </c:pt>
              <c:pt idx="32">
                <c:v>115496</c:v>
              </c:pt>
              <c:pt idx="33">
                <c:v>118186</c:v>
              </c:pt>
              <c:pt idx="34">
                <c:v>112418</c:v>
              </c:pt>
              <c:pt idx="35">
                <c:v>112691</c:v>
              </c:pt>
              <c:pt idx="36">
                <c:v>115757</c:v>
              </c:pt>
              <c:pt idx="37">
                <c:v>118682</c:v>
              </c:pt>
              <c:pt idx="38">
                <c:v>118813</c:v>
              </c:pt>
              <c:pt idx="39">
                <c:v>123198</c:v>
              </c:pt>
              <c:pt idx="40">
                <c:v>122582</c:v>
              </c:pt>
              <c:pt idx="41">
                <c:v>127709</c:v>
              </c:pt>
              <c:pt idx="42">
                <c:v>133401</c:v>
              </c:pt>
              <c:pt idx="43">
                <c:v>134891</c:v>
              </c:pt>
              <c:pt idx="44">
                <c:v>125391</c:v>
              </c:pt>
              <c:pt idx="45">
                <c:v>118374</c:v>
              </c:pt>
              <c:pt idx="46">
                <c:v>125988</c:v>
              </c:pt>
              <c:pt idx="47">
                <c:v>118582</c:v>
              </c:pt>
              <c:pt idx="48">
                <c:v>112377</c:v>
              </c:pt>
              <c:pt idx="49">
                <c:v>118604</c:v>
              </c:pt>
              <c:pt idx="50">
                <c:v>116092</c:v>
              </c:pt>
              <c:pt idx="51">
                <c:v>112437</c:v>
              </c:pt>
              <c:pt idx="52">
                <c:v>104838</c:v>
              </c:pt>
              <c:pt idx="53">
                <c:v>113315</c:v>
              </c:pt>
              <c:pt idx="54">
                <c:v>116626</c:v>
              </c:pt>
              <c:pt idx="55">
                <c:v>120023</c:v>
              </c:pt>
              <c:pt idx="56">
                <c:v>119296</c:v>
              </c:pt>
              <c:pt idx="57">
                <c:v>127229</c:v>
              </c:pt>
              <c:pt idx="58">
                <c:v>126631</c:v>
              </c:pt>
              <c:pt idx="59">
                <c:v>124096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55000"/>
          <c:min val="70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>
                    <a:solidFill>
                      <a:srgbClr val="5B6475"/>
                    </a:solidFill>
                  </a:rPr>
                  <a:t>Predicted premium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5B6475"/>
                  </a:solidFill>
                </a:defRPr>
              </a:pPr>
            </a:p>
          </c:txPr>
        </c:title>
        <c:numFmt formatCode="$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</c:valAx>
      <c:val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8E0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>
                    <a:solidFill>
                      <a:srgbClr val="5B6475"/>
                    </a:solidFill>
                  </a:rPr>
                  <a:t>Actual premium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5B6475"/>
                  </a:solidFill>
                </a:defRPr>
              </a:pPr>
            </a:p>
          </c:txPr>
        </c:title>
        <c:numFmt formatCode="$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6bb822dfd34430"/>
          <a:srcRect xmlns:a="http://schemas.openxmlformats.org/drawingml/2006/main" l="20297" t="0" r="2029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0" y="0"/>
            <a:ext cx="7239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6A1066-FBBA-457C-9D7C-477E0ED25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429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4EE282-9D5F-42AD-AF79-8CBA072A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172033"/>
                </a:solidFill>
              </a:defRPr>
            </a:pPr>
            <a:r>
              <a:rPr sz="4200" b="1">
                <a:solidFill>
                  <a:srgbClr val="172033"/>
                </a:solidFill>
              </a:rPr>
              <a:t>COE Quota and Price Elasticity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30BC27-744A-4F47-905D-14AD59E4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571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B6475"/>
                </a:solidFill>
              </a:defRPr>
            </a:pPr>
            <a:r>
              <a:rPr sz="1800" b="0">
                <a:solidFill>
                  <a:srgbClr val="5B6475"/>
                </a:solidFill>
              </a:rPr>
              <a:t>Predicting Category A/B premiums and translating quota changes into management-ready scenarios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67D1AA-5971-414E-B5FD-33779178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3429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5F4F2"/>
          </a:solidFill>
          <a:ln xmlns:a="http://schemas.openxmlformats.org/drawingml/2006/main" w="9525">
            <a:solidFill>
              <a:srgbClr val="E5F4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5F8F0A-47A8-43D1-B843-F1D40734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52825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Official bidding data: Jan 2010-Jun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F9B160-0147-4B0C-97C5-16FB6FC6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007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5"/>
                </a:solidFill>
              </a:defRPr>
            </a:pPr>
            <a:r>
              <a:rPr sz="1200" b="0">
                <a:solidFill>
                  <a:srgbClr val="5B6475"/>
                </a:solidFill>
              </a:rPr>
              <a:t>Prepared from repository analysis</a:t>
            </a:r>
          </a:p>
        </p:txBody>
      </p:sp>
    </p:spTree>
    <p:extLst>
      <p:ext uri="{BB962C8B-B14F-4D97-AF65-F5344CB8AC3E}">
        <p14:creationId xmlns:p14="http://schemas.microsoft.com/office/powerpoint/2010/main" val="842295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A6435F-CD65-4849-A1EE-3CDE0BBE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72033"/>
                </a:solidFill>
              </a:defRPr>
            </a:pPr>
            <a:r>
              <a:rPr sz="3300" b="1">
                <a:solidFill>
                  <a:srgbClr val="172033"/>
                </a:solidFill>
              </a:rPr>
              <a:t>Executive Takeaway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68D11A-7B43-43A7-A952-6E75E26AC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5"/>
                </a:solidFill>
              </a:defRPr>
            </a:pPr>
            <a:r>
              <a:rPr sz="1425" b="0">
                <a:solidFill>
                  <a:srgbClr val="5B6475"/>
                </a:solidFill>
              </a:rPr>
              <a:t>Quota matters most when interpreted together with bidding pressure.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FF4E3B-2D98-45B4-8FF5-56D97FEE7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57D4BF-549E-4376-8EAD-941F8455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475"/>
                </a:solidFill>
              </a:defRPr>
            </a:pPr>
            <a:r>
              <a:rPr sz="1050" b="0">
                <a:solidFill>
                  <a:srgbClr val="5B6475"/>
                </a:solidFill>
              </a:rPr>
              <a:t>COE quota-price elasticity | Management briefing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133EDE-D56A-4355-AC88-8A1F7F7E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5"/>
                </a:solidFill>
              </a:defRPr>
            </a:pPr>
            <a:r>
              <a:rPr sz="1050" b="0">
                <a:solidFill>
                  <a:srgbClr val="5B6475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A49BC9-F000-4B58-8CF1-91265866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2766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0FC9FF-A326-435E-844B-ADD2BD1EF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431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E7C7B"/>
                </a:solidFill>
              </a:defRPr>
            </a:pPr>
            <a:r>
              <a:rPr sz="1950" b="1">
                <a:solidFill>
                  <a:srgbClr val="0E7C7B"/>
                </a:solidFill>
              </a:rPr>
              <a:t>Market signal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A6C29D-6FE0-49CB-8170-84A931FA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76550"/>
            <a:ext cx="27813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Bid pressure gives a clearer operating signal than quota alone: bids received divided by available certificates.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7E390C-892B-4D47-814B-09A615DE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95500"/>
            <a:ext cx="32766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75AA9B-8CDE-44D8-A545-75787FBD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431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84B8F"/>
                </a:solidFill>
              </a:defRPr>
            </a:pPr>
            <a:r>
              <a:rPr sz="1950" b="1">
                <a:solidFill>
                  <a:srgbClr val="284B8F"/>
                </a:solidFill>
              </a:rPr>
              <a:t>Model result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A3E270-CCA6-408E-876D-60130701B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76550"/>
            <a:ext cx="27813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At fixed demand, a 1% quota increase is associated with an estimated 0.16% premium decrease.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4E6065-2F7F-4D01-8F64-6D3836F3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95500"/>
            <a:ext cx="32766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64617C-EC02-4A81-976F-6A68BA9C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431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E85D4F"/>
                </a:solidFill>
              </a:defRPr>
            </a:pPr>
            <a:r>
              <a:rPr sz="1950" b="1">
                <a:solidFill>
                  <a:srgbClr val="E85D4F"/>
                </a:solidFill>
              </a:rPr>
              <a:t>Policy use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C2D5B3-E770-4A38-8BAD-6E21090E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76550"/>
            <a:ext cx="27813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Use the model for scenario planning and communications, not as a deterministic price-setting engine.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A02314-5C0F-44C8-91F0-912CD8F0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67300"/>
            <a:ext cx="979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Latest baseline: Category A S$123,847 and Category B S$123,502 in Jun 2026 second bidding.</a:t>
            </a:r>
          </a:p>
        </p:txBody>
      </p:sp>
    </p:spTree>
    <p:extLst>
      <p:ext uri="{BB962C8B-B14F-4D97-AF65-F5344CB8AC3E}">
        <p14:creationId xmlns:p14="http://schemas.microsoft.com/office/powerpoint/2010/main" val="18638391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50EFD1-BA50-4B3B-BAA6-DFBB0894A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72033"/>
                </a:solidFill>
              </a:defRPr>
            </a:pPr>
            <a:r>
              <a:rPr sz="3300" b="1">
                <a:solidFill>
                  <a:srgbClr val="172033"/>
                </a:solidFill>
              </a:rPr>
              <a:t>Data and Modeling Approach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C95BFB-CEEF-4A75-BDEC-8AFAD148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5"/>
                </a:solidFill>
              </a:defRPr>
            </a:pPr>
            <a:r>
              <a:rPr sz="1425" b="0">
                <a:solidFill>
                  <a:srgbClr val="5B6475"/>
                </a:solidFill>
              </a:rPr>
              <a:t>The practical unit is one bidding exercise for one vehicle category.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A441D9-B705-4C78-B39B-FDAD55BE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DD48C6-8185-4F46-88B1-A198394F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475"/>
                </a:solidFill>
              </a:defRPr>
            </a:pPr>
            <a:r>
              <a:rPr sz="1050" b="0">
                <a:solidFill>
                  <a:srgbClr val="5B6475"/>
                </a:solidFill>
              </a:rPr>
              <a:t>COE quota-price elasticity | Management briefing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E5F993-4A22-4EE4-8FA5-82F42BC1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5"/>
                </a:solidFill>
              </a:defRPr>
            </a:pPr>
            <a:r>
              <a:rPr sz="1050" b="0">
                <a:solidFill>
                  <a:srgbClr val="5B6475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7733F5-8A85-462F-8CAE-59A60B54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288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611A8C-0C96-401B-94B4-717795B3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80E68C-34BC-4C7C-8317-F9CD796C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9900"/>
            <a:ext cx="171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Prepare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7D95C6-B6E3-43AD-B803-754FA87C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76650"/>
            <a:ext cx="2209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5"/>
                </a:solidFill>
              </a:defRPr>
            </a:pPr>
            <a:r>
              <a:rPr sz="1350" b="0">
                <a:solidFill>
                  <a:srgbClr val="5B6475"/>
                </a:solidFill>
              </a:rPr>
              <a:t>Filter Category A/B, parse month and bidding number, calculate exercise-level features.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8A7A8C-1A25-450D-9620-E4A71B1BE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62200"/>
            <a:ext cx="7620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EF3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1E1DED-F44C-425D-B313-2F413951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288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4B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1A9B20-CE93-4657-831E-5A3F81EF2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431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65D28F-4061-4A64-B14B-2D6D4F37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009900"/>
            <a:ext cx="171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Measure pressure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C6CC15-11D5-4A6E-99C1-E6037E5D1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676650"/>
            <a:ext cx="2209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5"/>
                </a:solidFill>
              </a:defRPr>
            </a:pPr>
            <a:r>
              <a:rPr sz="1350" b="0">
                <a:solidFill>
                  <a:srgbClr val="5B6475"/>
                </a:solidFill>
              </a:rPr>
              <a:t>Create bid pressure as bids received per certificate and add lagged premium features.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9158AD-3366-4A20-84FC-6CA7CE57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62200"/>
            <a:ext cx="7620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EF3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B8C4EE-07DC-44ED-AE39-14CB2C1F7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288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97C8BC-5ECF-4D85-B522-DC893ECC2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431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D1B44D-C144-4FE0-82B2-3D65BEFA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09900"/>
            <a:ext cx="171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Model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267F8A-3410-4CEB-9BCD-497C5B53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76650"/>
            <a:ext cx="2209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5"/>
                </a:solidFill>
              </a:defRPr>
            </a:pPr>
            <a:r>
              <a:rPr sz="1350" b="0">
                <a:solidFill>
                  <a:srgbClr val="5B6475"/>
                </a:solidFill>
              </a:rPr>
              <a:t>Fit log premium on quota, bid pressure, lagged premium, category, bidding number, and post-COVID flag.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703719-0B7E-42C7-A42A-DAB8D4B7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62200"/>
            <a:ext cx="7620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EF3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675596-D0DA-40E5-B847-7054E4A1A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2288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6D0720-1D4E-4522-A18E-A0D96B08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431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BC6935-A617-4419-9F75-5FEAA497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09900"/>
            <a:ext cx="171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Simulate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8AC1CD-E5DD-413D-A81A-41E3C6B5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76650"/>
            <a:ext cx="2209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5"/>
                </a:solidFill>
              </a:defRPr>
            </a:pPr>
            <a:r>
              <a:rPr sz="1350" b="0">
                <a:solidFill>
                  <a:srgbClr val="5B6475"/>
                </a:solidFill>
              </a:rPr>
              <a:t>Convert coefficients into fixed-demand quota scenarios for incremental certificates.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1DCD91-3045-4D25-84A5-DAD54968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238750"/>
            <a:ext cx="88011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FFF3D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0E124A-74D7-409E-94B2-0107B320B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429250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Model formula: log(premium) ~ log(quota) + log(bid pressure) + lagged log(premium) + controls</a:t>
            </a:r>
          </a:p>
        </p:txBody>
      </p:sp>
    </p:spTree>
    <p:extLst>
      <p:ext uri="{BB962C8B-B14F-4D97-AF65-F5344CB8AC3E}">
        <p14:creationId xmlns:p14="http://schemas.microsoft.com/office/powerpoint/2010/main" val="5391502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9457EA-9A39-4672-B958-E282F000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72033"/>
                </a:solidFill>
              </a:defRPr>
            </a:pPr>
            <a:r>
              <a:rPr sz="3300" b="1">
                <a:solidFill>
                  <a:srgbClr val="172033"/>
                </a:solidFill>
              </a:rPr>
              <a:t>Observed Market Pattern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099683-1B29-4EE5-8CB9-4549CD2B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5"/>
                </a:solidFill>
              </a:defRPr>
            </a:pPr>
            <a:r>
              <a:rPr sz="1425" b="0">
                <a:solidFill>
                  <a:srgbClr val="5B6475"/>
                </a:solidFill>
              </a:rPr>
              <a:t>The trend chart is split into premium and quota views for readable PowerPoint axes.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812A16-1477-4988-B78B-5A062358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44D052-76E1-467C-B190-D3E1FF02A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475"/>
                </a:solidFill>
              </a:defRPr>
            </a:pPr>
            <a:r>
              <a:rPr sz="1050" b="0">
                <a:solidFill>
                  <a:srgbClr val="5B6475"/>
                </a:solidFill>
              </a:rPr>
              <a:t>COE quota-price elasticity | Management briefing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181D64-D093-4080-BF21-51D04125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5"/>
                </a:solidFill>
              </a:defRPr>
            </a:pPr>
            <a:r>
              <a:rPr sz="1050" b="0">
                <a:solidFill>
                  <a:srgbClr val="5B6475"/>
                </a:solidFill>
              </a:rPr>
              <a:t>04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781050" y="2047875"/>
          <a:ext xmlns:a="http://schemas.openxmlformats.org/drawingml/2006/main" cx="4953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2cd2767daf04307"/>
          </a:graphicData>
        </a:graphic>
      </p:graphicFrame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400800" y="2047875"/>
          <a:ext xmlns:a="http://schemas.openxmlformats.org/drawingml/2006/main" cx="4953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f0abd0e2502410c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BFF0A3-CFB3-4C1F-B1DA-79C30F1D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00700"/>
            <a:ext cx="994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E7C7B"/>
                </a:solidFill>
              </a:defRPr>
            </a:pPr>
            <a:r>
              <a:rPr sz="1575" b="1">
                <a:solidFill>
                  <a:srgbClr val="0E7C7B"/>
                </a:solidFill>
              </a:rPr>
              <a:t>Interpretation: prices climbed strongly after 2021 despite partial quota recovery, so quota needs to be read with demand pressure.</a:t>
            </a:r>
          </a:p>
        </p:txBody>
      </p:sp>
    </p:spTree>
    <p:extLst>
      <p:ext uri="{BB962C8B-B14F-4D97-AF65-F5344CB8AC3E}">
        <p14:creationId xmlns:p14="http://schemas.microsoft.com/office/powerpoint/2010/main" val="10142709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9457EA-9A39-4672-B958-E282F000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72033"/>
                </a:solidFill>
              </a:defRPr>
            </a:pPr>
            <a:r>
              <a:rPr sz="3300" b="1">
                <a:solidFill>
                  <a:srgbClr val="172033"/>
                </a:solidFill>
              </a:rPr>
              <a:t>Observed Market Pattern: Overlay 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099683-1B29-4EE5-8CB9-4549CD2B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5"/>
                </a:solidFill>
              </a:defRPr>
            </a:pPr>
            <a:r>
              <a:rPr sz="1425" b="0">
                <a:solidFill>
                  <a:srgbClr val="5B6475"/>
                </a:solidFill>
              </a:rPr>
              <a:t>Premium and quota are indexed to 2010 = 100 so the two trends can share one axis.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812A16-1477-4988-B78B-5A062358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44D052-76E1-467C-B190-D3E1FF02A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475"/>
                </a:solidFill>
              </a:defRPr>
            </a:pPr>
            <a:r>
              <a:rPr sz="1050" b="0">
                <a:solidFill>
                  <a:srgbClr val="5B6475"/>
                </a:solidFill>
              </a:rPr>
              <a:t>COE quota-price elasticity | Management briefing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181D64-D093-4080-BF21-51D04125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5"/>
                </a:solidFill>
              </a:defRPr>
            </a:pPr>
            <a:r>
              <a:rPr sz="1050" b="0">
                <a:solidFill>
                  <a:srgbClr val="5B6475"/>
                </a:solidFill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BFF0A3-CFB3-4C1F-B1DA-79C30F1D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00700"/>
            <a:ext cx="994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E7C7B"/>
                </a:solidFill>
              </a:defRPr>
            </a:pPr>
            <a:r>
              <a:rPr sz="1575" b="1">
                <a:solidFill>
                  <a:srgbClr val="0E7C7B"/>
                </a:solidFill>
              </a:rPr>
              <a:t>Read: premiums rose as quota stayed compressed; the overlay shows market pressure, not standalone causality.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914400" y="2000250"/>
          <a:ext xmlns:a="http://schemas.openxmlformats.org/drawingml/2006/main" cx="103632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9f6c27a209045e2"/>
          </a:graphicData>
        </a:graphic>
      </p:graphicFrame>
    </p:spTree>
    <p:extLst>
      <p:ext uri="{BB962C8B-B14F-4D97-AF65-F5344CB8AC3E}">
        <p14:creationId xmlns:p14="http://schemas.microsoft.com/office/powerpoint/2010/main" val="10142709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362945-C36F-4DB1-8E0C-1C2ACAE1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72033"/>
                </a:solidFill>
              </a:defRPr>
            </a:pPr>
            <a:r>
              <a:rPr sz="3300" b="1">
                <a:solidFill>
                  <a:srgbClr val="172033"/>
                </a:solidFill>
              </a:rPr>
              <a:t>Bid Pressure Explains the Market Tightness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6891AD-5E04-4CA2-9E99-D0CC3F34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5"/>
                </a:solidFill>
              </a:defRPr>
            </a:pPr>
            <a:r>
              <a:rPr sz="1425" b="0">
                <a:solidFill>
                  <a:srgbClr val="5B6475"/>
                </a:solidFill>
              </a:rPr>
              <a:t>The scatterplot shows premiums are highest when many bids chase each certificate.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85334B-55E4-4E42-BF60-9E1FA551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BDD0E4-064C-4F21-B56C-36AF683F8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475"/>
                </a:solidFill>
              </a:defRPr>
            </a:pPr>
            <a:r>
              <a:rPr sz="1050" b="0">
                <a:solidFill>
                  <a:srgbClr val="5B6475"/>
                </a:solidFill>
              </a:rPr>
              <a:t>COE quota-price elasticity | Management briefing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2E67AD-3375-4B9A-A5FF-18B3FDDA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5"/>
                </a:solidFill>
              </a:defRPr>
            </a:pPr>
            <a:r>
              <a:rPr sz="1050" b="0">
                <a:solidFill>
                  <a:srgbClr val="5B6475"/>
                </a:solidFill>
              </a:rPr>
              <a:t>06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876300" y="2000250"/>
          <a:ext xmlns:a="http://schemas.openxmlformats.org/drawingml/2006/main" cx="723900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e8768c6bd3e4b2d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09F829-1EEE-4010-8DFD-E8267726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38375"/>
            <a:ext cx="2571750" cy="2714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5F4F2"/>
          </a:solidFill>
          <a:ln xmlns:a="http://schemas.openxmlformats.org/drawingml/2006/main" w="9525">
            <a:solidFill>
              <a:srgbClr val="E5F4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CB9926-4E08-4750-B80C-2D8B3A87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479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Why this matters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D96713-E050-491C-B115-3EB48A30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143250"/>
            <a:ext cx="20764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475"/>
                </a:solidFill>
              </a:defRPr>
            </a:pPr>
            <a:r>
              <a:rPr sz="1275" b="0">
                <a:solidFill>
                  <a:srgbClr val="5B6475"/>
                </a:solidFill>
              </a:rPr>
              <a:t>Quota says how many certificates exist. Bid pressure shows how intensely the market competes for each certificate.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1CE252-41E9-44D1-A532-299F5488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362450"/>
            <a:ext cx="207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E7C7B"/>
                </a:solidFill>
              </a:defRPr>
            </a:pPr>
            <a:r>
              <a:rPr sz="1275" b="1">
                <a:solidFill>
                  <a:srgbClr val="0E7C7B"/>
                </a:solidFill>
              </a:rPr>
              <a:t>Use bid pressure as the primary monitoring signal.</a:t>
            </a:r>
          </a:p>
        </p:txBody>
      </p:sp>
    </p:spTree>
    <p:extLst>
      <p:ext uri="{BB962C8B-B14F-4D97-AF65-F5344CB8AC3E}">
        <p14:creationId xmlns:p14="http://schemas.microsoft.com/office/powerpoint/2010/main" val="8930596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535F30-30C2-4B51-96FC-F3F3F59DD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72033"/>
                </a:solidFill>
              </a:defRPr>
            </a:pPr>
            <a:r>
              <a:rPr sz="3300" b="1">
                <a:solidFill>
                  <a:srgbClr val="172033"/>
                </a:solidFill>
              </a:rPr>
              <a:t>Model Check: Actual vs Predicted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E5BEFD-F036-4D74-A9D0-1CCADDB9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5"/>
                </a:solidFill>
              </a:defRPr>
            </a:pPr>
            <a:r>
              <a:rPr sz="1425" b="0">
                <a:solidFill>
                  <a:srgbClr val="5B6475"/>
                </a:solidFill>
              </a:rPr>
              <a:t>The holdout check confirms the model is usable for scenario planning, with bounded error.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1328C8-FEBC-48FD-B1F5-43C15562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9B8B7C-E33A-432B-B3EF-F8DABBD4F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475"/>
                </a:solidFill>
              </a:defRPr>
            </a:pPr>
            <a:r>
              <a:rPr sz="1050" b="0">
                <a:solidFill>
                  <a:srgbClr val="5B6475"/>
                </a:solidFill>
              </a:rPr>
              <a:t>COE quota-price elasticity | Management briefing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5CE323-479B-427A-A0D3-39DE79CCD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5"/>
                </a:solidFill>
              </a:defRPr>
            </a:pPr>
            <a:r>
              <a:rPr sz="1050" b="0">
                <a:solidFill>
                  <a:srgbClr val="5B6475"/>
                </a:solidFill>
              </a:rPr>
              <a:t>07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876300" y="2000250"/>
          <a:ext xmlns:a="http://schemas.openxmlformats.org/drawingml/2006/main" cx="685800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3e2ccabf0754a0e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A16A0A-88DC-4058-946B-C8F252EA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33625"/>
            <a:ext cx="2476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5F4F2"/>
          </a:solidFill>
          <a:ln xmlns:a="http://schemas.openxmlformats.org/drawingml/2006/main" w="9525">
            <a:solidFill>
              <a:srgbClr val="E5F4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97EA27-C0C7-466C-9B89-A510305C9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5745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B6475"/>
                </a:solidFill>
              </a:defRPr>
            </a:pPr>
            <a:r>
              <a:rPr sz="1200" b="1">
                <a:solidFill>
                  <a:srgbClr val="5B6475"/>
                </a:solidFill>
              </a:rPr>
              <a:t>Holdout MAE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8FB8C8-18A2-438B-ACFE-0405CEF8D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419350"/>
            <a:ext cx="933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S$4.0k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E28692-E283-46E8-BC86-9D8734820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71825"/>
            <a:ext cx="2476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FFF3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A0214B-7CAB-429B-AA2D-62792BCC7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9565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B6475"/>
                </a:solidFill>
              </a:defRPr>
            </a:pPr>
            <a:r>
              <a:rPr sz="1200" b="1">
                <a:solidFill>
                  <a:srgbClr val="5B6475"/>
                </a:solidFill>
              </a:rPr>
              <a:t>Holdout MAPE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2A55E1-42C6-456F-B4CF-9B536CD09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257550"/>
            <a:ext cx="933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3.82%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B7CBB1-B4FE-4C80-A364-37381BC1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10025"/>
            <a:ext cx="2476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DEAE7"/>
          </a:solidFill>
          <a:ln xmlns:a="http://schemas.openxmlformats.org/drawingml/2006/main" w="9525">
            <a:solidFill>
              <a:srgbClr val="FDEA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2DAF3C-45D9-436B-B8F1-6CC33ADD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13385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B6475"/>
                </a:solidFill>
              </a:defRPr>
            </a:pPr>
            <a:r>
              <a:rPr sz="1200" b="1">
                <a:solidFill>
                  <a:srgbClr val="5B6475"/>
                </a:solidFill>
              </a:rPr>
              <a:t>Rows tested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E696B3-A38F-4A38-BAC0-35F86D97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095750"/>
            <a:ext cx="933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120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21E58B-E422-42A5-B482-E2C0719E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06730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5"/>
                </a:solidFill>
              </a:defRPr>
            </a:pPr>
            <a:r>
              <a:rPr sz="1350" b="0">
                <a:solidFill>
                  <a:srgbClr val="5B6475"/>
                </a:solidFill>
              </a:rPr>
              <a:t>Predicted premiums track the actual range closely enough for scenario planning, but residual error remains.</a:t>
            </a:r>
          </a:p>
        </p:txBody>
      </p:sp>
    </p:spTree>
    <p:extLst>
      <p:ext uri="{BB962C8B-B14F-4D97-AF65-F5344CB8AC3E}">
        <p14:creationId xmlns:p14="http://schemas.microsoft.com/office/powerpoint/2010/main" val="18328076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777997-C9FD-42E6-8F87-E11F4937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72033"/>
                </a:solidFill>
              </a:defRPr>
            </a:pPr>
            <a:r>
              <a:rPr sz="3300" b="1">
                <a:solidFill>
                  <a:srgbClr val="172033"/>
                </a:solidFill>
              </a:rPr>
              <a:t>Model Performance and Elasticity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2D1296-105F-4C4A-9F51-6346D5218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5"/>
                </a:solidFill>
              </a:defRPr>
            </a:pPr>
            <a:r>
              <a:rPr sz="1425" b="0">
                <a:solidFill>
                  <a:srgbClr val="5B6475"/>
                </a:solidFill>
              </a:rPr>
              <a:t>The model is strong for monitoring and scenario planning, with explicit caveats.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3853EE-F92B-4B9C-9F76-B633AFDD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DFBBD7-8F15-4981-8943-32DEA16A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475"/>
                </a:solidFill>
              </a:defRPr>
            </a:pPr>
            <a:r>
              <a:rPr sz="1050" b="0">
                <a:solidFill>
                  <a:srgbClr val="5B6475"/>
                </a:solidFill>
              </a:rPr>
              <a:t>COE quota-price elasticity | Management briefing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3328C6-2893-4DA6-A5ED-9771E684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5"/>
                </a:solidFill>
              </a:defRPr>
            </a:pPr>
            <a:r>
              <a:rPr sz="1050" b="0">
                <a:solidFill>
                  <a:srgbClr val="5B6475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A104F3-728B-481B-859A-AFE073AC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3812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5F4F2"/>
          </a:solidFill>
          <a:ln xmlns:a="http://schemas.openxmlformats.org/drawingml/2006/main" w="9525">
            <a:solidFill>
              <a:srgbClr val="E5F4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BF4460-E873-4A3B-8780-844B89D5A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B6475"/>
                </a:solidFill>
              </a:defRPr>
            </a:pPr>
            <a:r>
              <a:rPr sz="1275" b="1">
                <a:solidFill>
                  <a:srgbClr val="5B6475"/>
                </a:solidFill>
              </a:rPr>
              <a:t>R-squared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A3B24A-BBF8-4FA7-AACC-0965B2EE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9080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0.969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BAEFF4-6AE7-4230-A586-FF3A7A1D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5"/>
                </a:solidFill>
              </a:defRPr>
            </a:pPr>
            <a:r>
              <a:rPr sz="1200" b="0">
                <a:solidFill>
                  <a:srgbClr val="5B6475"/>
                </a:solidFill>
              </a:rPr>
              <a:t>In-sample fit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E0A44A-EE93-413A-9482-B730E3EC7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95500"/>
            <a:ext cx="23812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EEF3F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75AEB6-41DF-421D-AB07-958E5D1C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860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B6475"/>
                </a:solidFill>
              </a:defRPr>
            </a:pPr>
            <a:r>
              <a:rPr sz="1275" b="1">
                <a:solidFill>
                  <a:srgbClr val="5B6475"/>
                </a:solidFill>
              </a:rPr>
              <a:t>Holdout MAE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497793-B658-4EB3-B578-A031A335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9080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S$3,955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C3263F-F0AD-4684-86BD-4308EE44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480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5"/>
                </a:solidFill>
              </a:defRPr>
            </a:pPr>
            <a:r>
              <a:rPr sz="1200" b="0">
                <a:solidFill>
                  <a:srgbClr val="5B6475"/>
                </a:solidFill>
              </a:rPr>
              <a:t>2024 onward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C143DD-411E-447D-B803-167892D7D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23812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FFF3D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7F4C55-EECC-4AD7-B508-28203300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860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B6475"/>
                </a:solidFill>
              </a:defRPr>
            </a:pPr>
            <a:r>
              <a:rPr sz="1275" b="1">
                <a:solidFill>
                  <a:srgbClr val="5B6475"/>
                </a:solidFill>
              </a:rPr>
              <a:t>Holdout MAPE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C52204-FD87-4924-A617-7D78A51F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9080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3.82%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7A6FE7-9F7E-49A6-8565-53269FAC2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480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5"/>
                </a:solidFill>
              </a:defRPr>
            </a:pPr>
            <a:r>
              <a:rPr sz="1200" b="0">
                <a:solidFill>
                  <a:srgbClr val="5B6475"/>
                </a:solidFill>
              </a:rPr>
              <a:t>2024 onward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35655D-0C66-46AC-974C-618F28F85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95500"/>
            <a:ext cx="23812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DEAE7"/>
          </a:solidFill>
          <a:ln xmlns:a="http://schemas.openxmlformats.org/drawingml/2006/main" w="9525">
            <a:solidFill>
              <a:srgbClr val="FDEA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9632D0-6022-4644-9913-9CB4CDA9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2860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B6475"/>
                </a:solidFill>
              </a:defRPr>
            </a:pPr>
            <a:r>
              <a:rPr sz="1275" b="1">
                <a:solidFill>
                  <a:srgbClr val="5B6475"/>
                </a:solidFill>
              </a:rPr>
              <a:t>Fixed-demand elasticity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47C9D5-5DAB-42A6-883E-55387063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59080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2033"/>
                </a:solidFill>
              </a:defRPr>
            </a:pPr>
            <a:r>
              <a:rPr sz="2400" b="1">
                <a:solidFill>
                  <a:srgbClr val="172033"/>
                </a:solidFill>
              </a:rPr>
              <a:t>-0.155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420AD2-EC68-43BC-A5DA-356F9571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480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5"/>
                </a:solidFill>
              </a:defRPr>
            </a:pPr>
            <a:r>
              <a:rPr sz="1200" b="0">
                <a:solidFill>
                  <a:srgbClr val="5B6475"/>
                </a:solidFill>
              </a:rPr>
              <a:t>Quota + pressure channel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6E4D0A-8651-4828-8573-B8E39670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95750"/>
            <a:ext cx="4762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F8519E-CB37-47FA-A029-7F93EB22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243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Elasticity reading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EC4FF0-2398-4D30-895F-E075E4E3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86300"/>
            <a:ext cx="415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475"/>
                </a:solidFill>
              </a:defRPr>
            </a:pPr>
            <a:r>
              <a:rPr sz="1275" b="0">
                <a:solidFill>
                  <a:srgbClr val="5B6475"/>
                </a:solidFill>
              </a:rPr>
              <a:t>Log-price model: direct quota coefficient is -0.015. For policy scenarios, fixed-demand elasticity is -0.155, so a 1% quota increase implies about a 0.16% premium fall.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D86580-9935-41D1-9592-E9059F80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95750"/>
            <a:ext cx="4762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E8FB22-426A-4500-9139-C1561FD7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3243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Why not time series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130B75-F49D-41C5-A188-C6F3CC326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86300"/>
            <a:ext cx="4152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475"/>
                </a:solidFill>
              </a:defRPr>
            </a:pPr>
            <a:r>
              <a:rPr sz="1275" b="0">
                <a:solidFill>
                  <a:srgbClr val="5B6475"/>
                </a:solidFill>
              </a:rPr>
              <a:t>A pure time-series forecast predicts the next price but does not isolate the quota lever. The log approach gives interpretable elasticity and converts extra certificates into scenario impacts.</a:t>
            </a:r>
          </a:p>
        </p:txBody>
      </p:sp>
    </p:spTree>
    <p:extLst>
      <p:ext uri="{BB962C8B-B14F-4D97-AF65-F5344CB8AC3E}">
        <p14:creationId xmlns:p14="http://schemas.microsoft.com/office/powerpoint/2010/main" val="11833462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4B00FE-C909-48A6-BE6D-5051100C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72033"/>
                </a:solidFill>
              </a:defRPr>
            </a:pPr>
            <a:r>
              <a:rPr sz="3300" b="1">
                <a:solidFill>
                  <a:srgbClr val="172033"/>
                </a:solidFill>
              </a:rPr>
              <a:t>Scenario Planning With Demand Response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0E8CA0-4FD5-4A40-BF97-00EB4B82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5"/>
                </a:solidFill>
              </a:defRPr>
            </a:pPr>
            <a:r>
              <a:rPr sz="1425" b="0">
                <a:solidFill>
                  <a:srgbClr val="5B6475"/>
                </a:solidFill>
              </a:rPr>
              <a:t>Quota relief is most visible when demand does not rise at the same time.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DB5A3B-BB82-4C4D-AC9F-2B8C902F1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77E90F-BC3B-4513-AEF0-9723C32D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475"/>
                </a:solidFill>
              </a:defRPr>
            </a:pPr>
            <a:r>
              <a:rPr sz="1050" b="0">
                <a:solidFill>
                  <a:srgbClr val="5B6475"/>
                </a:solidFill>
              </a:rPr>
              <a:t>COE quota-price elasticity | Management briefing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FEC646-7A41-4942-8168-31C97D075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5"/>
                </a:solidFill>
              </a:defRPr>
            </a:pPr>
            <a:r>
              <a:rPr sz="1050" b="0">
                <a:solidFill>
                  <a:srgbClr val="5B6475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5C7D6E-B7AB-4B20-A6FE-6500DC4D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106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B699A8-283C-4B80-9AB4-ED3846E8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38375"/>
            <a:ext cx="87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Category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EA9101-54CB-4CD4-B7C3-D7D5DC74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152650"/>
            <a:ext cx="1790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C69DBF-C243-4FFB-969A-F3546FCC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38375"/>
            <a:ext cx="1600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+5% quota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0% demand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08DB76-AD19-4AE9-8FBF-BD5AE3848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152650"/>
            <a:ext cx="1790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8DA587-0557-41D0-99B2-7BFDB96B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238375"/>
            <a:ext cx="1600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+10% quota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0% demand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9E8469-9EE3-4CC9-930D-4C0BC2E2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152650"/>
            <a:ext cx="1924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9A8C1A-C527-40EE-AD95-C22528198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238375"/>
            <a:ext cx="1733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+10% quota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+10% demand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805A7C-8DC7-4038-9A8F-25CCEA276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62250"/>
            <a:ext cx="106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C8FB35-3215-455D-95F3-D4C396362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9560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F47BA1-3783-45AB-84D5-2DD667FE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62250"/>
            <a:ext cx="1790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B73FC3-B245-4472-9881-4CE78982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956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S$122.9k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BEFBA8-3562-4F9E-AD34-CD0A0CFE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762250"/>
            <a:ext cx="1790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0FC67F-1F70-4522-8A8A-23E80CDF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8956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S$122.0k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CD88E4-FB62-4575-8E63-5D37D98D3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62250"/>
            <a:ext cx="1924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A5669B-6E35-4ED6-BA89-3ED58FC7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89560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S$123.7k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BE235B-72E7-4F98-A84C-89BC0FE5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71850"/>
            <a:ext cx="106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0BFAA4-5900-44A2-B145-65B57B0E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0520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B55904-415A-4161-B319-1BF6EAF17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71850"/>
            <a:ext cx="1790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407191-BE4B-43E1-AD04-45F312F3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5052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S$122.6k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F33E2D-A777-47E5-B06F-FE4AB43F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371850"/>
            <a:ext cx="1790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D76145-9E3B-40EC-AA7D-A8055A70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5052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S$121.7k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B6165F-AA63-4929-ACD0-496974BE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371850"/>
            <a:ext cx="1924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136C5A-1036-43A7-8E7D-A864D845F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50520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S$123.3k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DECB17-A831-4FBA-B57C-55DC22CC8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5"/>
                </a:solidFill>
              </a:defRPr>
            </a:pPr>
            <a:r>
              <a:rPr sz="1350" b="0">
                <a:solidFill>
                  <a:srgbClr val="5B6475"/>
                </a:solidFill>
              </a:rPr>
              <a:t>Cells show estimated premium under each scenario. When demand rises with quota, price relief is largely offset.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DC6EA4-C1DA-4EDF-B350-AABFE1B4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52650"/>
            <a:ext cx="26098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14D81B-48B9-4924-B829-58D15638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81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Uncertainty lens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754AF9-A090-49CE-A845-C4B671F3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194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E7C7B"/>
                </a:solidFill>
              </a:defRPr>
            </a:pPr>
            <a:r>
              <a:rPr sz="1275" b="1">
                <a:solidFill>
                  <a:srgbClr val="0E7C7B"/>
                </a:solidFill>
              </a:rPr>
              <a:t>+10% quota, demand unchanged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44B88A-03DC-462C-BEE9-D853C9543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956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A: S$122.0k central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ECF0B8C-7B43-4225-BC8E-D5F6024B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5623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475"/>
                </a:solidFill>
              </a:defRPr>
            </a:pPr>
            <a:r>
              <a:rPr sz="1125" b="0">
                <a:solidFill>
                  <a:srgbClr val="5B6475"/>
                </a:solidFill>
              </a:rPr>
              <a:t>S$118.1k-S$126.0k rough range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70152B-F4DB-4EF5-A81A-55CF09C68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9052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B: S$121.7k central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1604EC7-65A4-4E3F-85DF-2AD43BF0B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171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475"/>
                </a:solidFill>
              </a:defRPr>
            </a:pPr>
            <a:r>
              <a:rPr sz="1125" b="0">
                <a:solidFill>
                  <a:srgbClr val="5B6475"/>
                </a:solidFill>
              </a:rPr>
              <a:t>S$117.7k-S$125.6k rough range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AC04647-FC26-4780-9C75-3DB14E86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95875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FFF3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9CC3B2F-E3D8-49FA-9DAE-8453A237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57800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Execution message: publish scenario ranges, not point promises.</a:t>
            </a:r>
          </a:p>
        </p:txBody>
      </p:sp>
    </p:spTree>
    <p:extLst>
      <p:ext uri="{BB962C8B-B14F-4D97-AF65-F5344CB8AC3E}">
        <p14:creationId xmlns:p14="http://schemas.microsoft.com/office/powerpoint/2010/main" val="16276486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739864-4E63-4C0C-8E37-46CFB45A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72033"/>
                </a:solidFill>
              </a:defRPr>
            </a:pPr>
            <a:r>
              <a:rPr sz="3300" b="1">
                <a:solidFill>
                  <a:srgbClr val="172033"/>
                </a:solidFill>
              </a:rPr>
              <a:t>Category and Regime Differences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3856C1-BF1B-4082-BEF0-EBE9E21D6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5"/>
                </a:solidFill>
              </a:defRPr>
            </a:pPr>
            <a:r>
              <a:rPr sz="1425" b="0">
                <a:solidFill>
                  <a:srgbClr val="5B6475"/>
                </a:solidFill>
              </a:rPr>
              <a:t>Segment checks indicate where management should avoid one-size-fits-all interpretation.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8EED33-AD0B-4950-84CD-727F1E27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FB2041-613C-4ECB-A721-6C25EE51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475"/>
                </a:solidFill>
              </a:defRPr>
            </a:pPr>
            <a:r>
              <a:rPr sz="1050" b="0">
                <a:solidFill>
                  <a:srgbClr val="5B6475"/>
                </a:solidFill>
              </a:rPr>
              <a:t>COE quota-price elasticity | Management briefing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905F5A-42F4-4E24-A84B-BB892807F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5"/>
                </a:solidFill>
              </a:defRPr>
            </a:pPr>
            <a:r>
              <a:rPr sz="1050" b="0">
                <a:solidFill>
                  <a:srgbClr val="5B6475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4793D4-F66C-49CA-A147-AAF95671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2705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47334B-DCE0-4B49-9383-0594B2B2E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0275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Segment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D03727-FFC7-4DDA-BDA4-9D56B4D3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095500"/>
            <a:ext cx="1009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B33A3A-AF85-461F-A086-9FC849F12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2002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Rows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85B1C4-9809-4F46-9A5B-4CE44F3E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95500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053BC3-181E-4ECB-8C40-F54EC2690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00275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Elasticity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5D659B-DCD5-4178-98BD-F679835B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95500"/>
            <a:ext cx="4438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CF99BF-8A11-481A-A112-C7E2189E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00275"/>
            <a:ext cx="424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Management read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F0A6BC-01D3-48C7-AEC1-11401CC14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2705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15B766-890A-463F-849D-442FDF269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Category A only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184D30-38E0-4B3D-A24D-2A57F03B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14600"/>
            <a:ext cx="1009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641249-419F-4623-B27F-AD9FB290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68605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329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D97763-4A2C-4B87-8C77-1E5C509E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14600"/>
            <a:ext cx="1657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C986CD-ABD6-4F18-9096-C96C796B2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68605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-0.123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61AEDC-F8EC-449A-BED0-2A1F1B142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14600"/>
            <a:ext cx="4438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EBCE23-2AA1-4B2B-AC2D-4B2F93FE3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28900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Mass-market demand; lower estimated sensitivity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A88206-48F1-4AD1-9CEA-6BF96AA1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2705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CDD1DB-0B58-4456-B191-30A9269E4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Category B only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60D52C-F2F8-4E7B-B785-349F7D48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05150"/>
            <a:ext cx="1009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0DC720-BFA0-4F4A-B5CA-ACD83AEA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2766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329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1A31B1-22EB-4F47-9EDE-7C99CA51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05150"/>
            <a:ext cx="1657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97D17B-95A2-4A14-845C-0A3F3F293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2766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-0.200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51B542-C34A-40B3-BDAA-03FAE29F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05150"/>
            <a:ext cx="4438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43A3C9-7229-4267-ACE8-2048A7B0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19450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Smaller quota and premium/larger-car segment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F097F7-243A-4914-BFD7-B4DE6B0B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2705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901888-34D9-4AD6-AD1B-A6BDD11D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6715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Pre-COVID regime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270FCB-23D4-4DC9-8BBC-3BBA70A6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695700"/>
            <a:ext cx="1009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CDCBB7-9DA8-408B-8EE3-B6200C5E1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86715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490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75DF68B-47C2-4DB6-A23D-887F6CFC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95700"/>
            <a:ext cx="1657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EEC47AC-C0DA-4048-93AC-9ACC04235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6715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-0.150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823B91-566C-4B4E-8747-C681220D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95700"/>
            <a:ext cx="4438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0D7906B-B3A6-4367-9A36-01159529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10000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Historical baseline behaviour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3017F5B-959E-4ADC-A39F-4606CFFF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0"/>
            <a:ext cx="2705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3B218D6-C118-4B6C-A400-8ECDA5EF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Post-COVID regime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3BDF344-37A3-48DC-9F8C-E132103D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286250"/>
            <a:ext cx="1009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189F365-7A80-45AD-A214-1C6A318EA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577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168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5FC3EAB-0571-4E31-96D1-71314D33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286250"/>
            <a:ext cx="1657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94CA26C-6846-47FB-8659-55F63CFF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577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-0.316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0AC9F9E-3056-40DD-8092-0EB7C68A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86250"/>
            <a:ext cx="4438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E6F31A4-15A3-4875-901D-C1EB63A4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400550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High-price regime appears more sensitive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8CF2A84-27DD-4717-B040-D039079F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43500"/>
            <a:ext cx="948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E7C7B"/>
                </a:solidFill>
              </a:defRPr>
            </a:pPr>
            <a:r>
              <a:rPr sz="1650" b="1">
                <a:solidFill>
                  <a:srgbClr val="0E7C7B"/>
                </a:solidFill>
              </a:rPr>
              <a:t>Use these as directional checks, not final causal estimates: segment samples are smaller than the pooled model.</a:t>
            </a:r>
          </a:p>
        </p:txBody>
      </p:sp>
    </p:spTree>
    <p:extLst>
      <p:ext uri="{BB962C8B-B14F-4D97-AF65-F5344CB8AC3E}">
        <p14:creationId xmlns:p14="http://schemas.microsoft.com/office/powerpoint/2010/main" val="1395242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F9BF0A-50C9-4C65-8163-5AAE29D9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72033"/>
                </a:solidFill>
              </a:defRPr>
            </a:pPr>
            <a:r>
              <a:rPr sz="3300" b="1">
                <a:solidFill>
                  <a:srgbClr val="172033"/>
                </a:solidFill>
              </a:rPr>
              <a:t>Operating Use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2AF0A1-2F60-4FD0-B216-55E048B2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5"/>
                </a:solidFill>
              </a:defRPr>
            </a:pPr>
            <a:r>
              <a:rPr sz="1425" b="0">
                <a:solidFill>
                  <a:srgbClr val="5B6475"/>
                </a:solidFill>
              </a:rPr>
              <a:t>Use the model as a decision-support and communication aid.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EBEB6F-DCDE-4E41-A385-F139D27B4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455A3C-E59B-444B-8393-B8AD5492F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475"/>
                </a:solidFill>
              </a:defRPr>
            </a:pPr>
            <a:r>
              <a:rPr sz="1050" b="0">
                <a:solidFill>
                  <a:srgbClr val="5B6475"/>
                </a:solidFill>
              </a:rPr>
              <a:t>COE quota-price elasticity | Management briefing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3A66AB-E67B-4935-A0A5-4127622E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5"/>
                </a:solidFill>
              </a:defRPr>
            </a:pPr>
            <a:r>
              <a:rPr sz="1050" b="0">
                <a:solidFill>
                  <a:srgbClr val="5B6475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8EAC73-0E7B-4DD9-AFFB-6E4BC024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95500"/>
            <a:ext cx="99441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5F4F2"/>
          </a:solidFill>
          <a:ln xmlns:a="http://schemas.openxmlformats.org/drawingml/2006/main" w="9525">
            <a:solidFill>
              <a:srgbClr val="E5F4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5702F5-DA6B-447B-B736-D2813441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2479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1. Monitoring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99BFE7-E767-47ED-A262-5D408CD7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266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5"/>
                </a:solidFill>
              </a:defRPr>
            </a:pPr>
            <a:r>
              <a:rPr sz="1425" b="0">
                <a:solidFill>
                  <a:srgbClr val="5B6475"/>
                </a:solidFill>
              </a:rPr>
              <a:t>Track quota, bids received, bid pressure, and premium changes by bidding exercise.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5A387D-C5D0-46A1-80F5-AC059CAC7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33700"/>
            <a:ext cx="99441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EEF3F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C29F1B-DF13-416F-A925-9B6979CA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861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2. Scenario planning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A4517D-2DF3-4C02-BAD0-26204A8B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1051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5"/>
                </a:solidFill>
              </a:defRPr>
            </a:pPr>
            <a:r>
              <a:rPr sz="1425" b="0">
                <a:solidFill>
                  <a:srgbClr val="5B6475"/>
                </a:solidFill>
              </a:rPr>
              <a:t>Before each quota review, publish internal ranges for plausible certificate increments.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49FE5B-ECC9-4C7D-9348-F74D9164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71900"/>
            <a:ext cx="99441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FFF3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85801C-FE35-41A1-AD4F-430F2801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924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3. Communications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FDA89F-FC95-4CE2-BC1C-D693A62D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9433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5"/>
                </a:solidFill>
              </a:defRPr>
            </a:pPr>
            <a:r>
              <a:rPr sz="1425" b="0">
                <a:solidFill>
                  <a:srgbClr val="5B6475"/>
                </a:solidFill>
              </a:rPr>
              <a:t>Explain that quota is a pressure valve; demand and expectations still affect premiums.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2DF615-C47A-426C-86B3-2E7E8EA4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10100"/>
            <a:ext cx="99441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DEAE7"/>
          </a:solidFill>
          <a:ln xmlns:a="http://schemas.openxmlformats.org/drawingml/2006/main" w="9525">
            <a:solidFill>
              <a:srgbClr val="FDEA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5B0A9D-FA75-4488-978E-F6B8EDB2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762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4. Governance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40F57B-92C7-4603-A191-BF4EC1F2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7815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5"/>
                </a:solidFill>
              </a:defRPr>
            </a:pPr>
            <a:r>
              <a:rPr sz="1425" b="0">
                <a:solidFill>
                  <a:srgbClr val="5B6475"/>
                </a:solidFill>
              </a:rPr>
              <a:t>Refresh coefficients after each quarter and review errors by category and market regime.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DA1362-6D3E-4402-BCE1-EE46E67FA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8102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E7C7B"/>
                </a:solidFill>
              </a:defRPr>
            </a:pPr>
            <a:r>
              <a:rPr sz="1800" b="1">
                <a:solidFill>
                  <a:srgbClr val="0E7C7B"/>
                </a:solidFill>
              </a:rPr>
              <a:t>Decision principle: manage the supply-demand balance and the public explanation together.</a:t>
            </a:r>
          </a:p>
        </p:txBody>
      </p:sp>
    </p:spTree>
    <p:extLst>
      <p:ext uri="{BB962C8B-B14F-4D97-AF65-F5344CB8AC3E}">
        <p14:creationId xmlns:p14="http://schemas.microsoft.com/office/powerpoint/2010/main" val="8569137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537406-A274-4B66-B6C7-82319056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191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Additional Considerations</a:t>
            </a:r>
          </a:p>
          <a:p xmlns:a="http://schemas.openxmlformats.org/drawingml/2006/main">
            <a:pPr algn="l">
              <a:buNone/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and Improvement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D8F0C4-0CB0-4738-B9DC-6B7F7213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5"/>
                </a:solidFill>
              </a:defRPr>
            </a:pPr>
            <a:r>
              <a:rPr sz="1350" b="0">
                <a:solidFill>
                  <a:srgbClr val="5B6475"/>
                </a:solidFill>
              </a:rPr>
              <a:t>Lower-priority enhancements that improve technical confidence without distracting from the core bid-pressure story.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EE55D1-DBBE-4494-9227-E76BB431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17C47D-FC58-46C3-B404-604D551E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475"/>
                </a:solidFill>
              </a:defRPr>
            </a:pPr>
            <a:r>
              <a:rPr sz="1050" b="0">
                <a:solidFill>
                  <a:srgbClr val="5B6475"/>
                </a:solidFill>
              </a:rPr>
              <a:t>COE quota-price elasticity | Management briefing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52B129-BCC2-436A-9193-0228FCE1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5"/>
                </a:solidFill>
              </a:defRPr>
            </a:pPr>
            <a:r>
              <a:rPr sz="1050" b="0">
                <a:solidFill>
                  <a:srgbClr val="5B6475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F3A5C3-6F1E-4316-A9C2-76AFC59C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90750"/>
            <a:ext cx="9715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5F4F2"/>
          </a:solidFill>
          <a:ln xmlns:a="http://schemas.openxmlformats.org/drawingml/2006/main" w="9525">
            <a:solidFill>
              <a:srgbClr val="E5F4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A10D16-823E-4FD8-9A4B-DB082DAB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400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External demand drivers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8D1BE4-300A-46E9-AFBB-71C23881F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622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5"/>
                </a:solidFill>
              </a:defRPr>
            </a:pPr>
            <a:r>
              <a:rPr sz="1350" b="0">
                <a:solidFill>
                  <a:srgbClr val="5B6475"/>
                </a:solidFill>
              </a:rPr>
              <a:t>Add interest rates, car prices, income, loan rules, fuel prices, and fleet demand if reliable time-aligned data is available.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BD6C66-84F3-49C2-84F0-EB8C12AC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57550"/>
            <a:ext cx="9715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FFF3D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172116-4A94-4BE7-B939-EB35303E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4671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Rolling validation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B14250-4610-4D24-AB55-0286DABB7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4290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5"/>
                </a:solidFill>
              </a:defRPr>
            </a:pPr>
            <a:r>
              <a:rPr sz="1350" b="0">
                <a:solidFill>
                  <a:srgbClr val="5B6475"/>
                </a:solidFill>
              </a:rPr>
              <a:t>Test the model year by year to assess whether performance is stable across market regimes.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77FF55-0FA3-49C5-9227-EAB94BD6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24350"/>
            <a:ext cx="9715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DEAE7"/>
          </a:solidFill>
          <a:ln xmlns:a="http://schemas.openxmlformats.org/drawingml/2006/main" w="9525">
            <a:solidFill>
              <a:srgbClr val="FDEA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9FD5E6-86E1-4929-8559-6E5BBD49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339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Residual analysis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D6BE17-2500-4EDB-B611-76B0FE4DE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4958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5"/>
                </a:solidFill>
              </a:defRPr>
            </a:pPr>
            <a:r>
              <a:rPr sz="1350" b="0">
                <a:solidFill>
                  <a:srgbClr val="5B6475"/>
                </a:solidFill>
              </a:rPr>
              <a:t>Investigate when the model is wrong: post-2021 spikes, quota recoveries, or Category B-specific errors.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722C63-5798-4BCA-955C-8C70A73B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619750"/>
            <a:ext cx="906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E7C7B"/>
                </a:solidFill>
              </a:defRPr>
            </a:pPr>
            <a:r>
              <a:rPr sz="1575" b="1">
                <a:solidFill>
                  <a:srgbClr val="0E7C7B"/>
                </a:solidFill>
              </a:rPr>
              <a:t>Positioning: useful for model maturity, weaker as immediate management/public insight unless they change the core conclusion.</a:t>
            </a:r>
          </a:p>
        </p:txBody>
      </p:sp>
    </p:spTree>
    <p:extLst>
      <p:ext uri="{BB962C8B-B14F-4D97-AF65-F5344CB8AC3E}">
        <p14:creationId xmlns:p14="http://schemas.microsoft.com/office/powerpoint/2010/main" val="85755163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537406-A274-4B66-B6C7-82319056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191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Supplementary Context:</a:t>
            </a:r>
          </a:p>
          <a:p xmlns:a="http://schemas.openxmlformats.org/drawingml/2006/main">
            <a:pPr algn="l">
              <a:buNone/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EV Model Mix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D8F0C4-0CB0-4738-B9DC-6B7F7213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5"/>
                </a:solidFill>
              </a:defRPr>
            </a:pPr>
            <a:r>
              <a:rPr sz="1350" b="0">
                <a:solidFill>
                  <a:srgbClr val="5B6475"/>
                </a:solidFill>
              </a:rPr>
              <a:t>China EV price competition and Tesla/BYD adoption can affect demand pressure beyond quota.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EE55D1-DBBE-4494-9227-E76BB431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17C47D-FC58-46C3-B404-604D551E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475"/>
                </a:solidFill>
              </a:defRPr>
            </a:pPr>
            <a:r>
              <a:rPr sz="1050" b="0">
                <a:solidFill>
                  <a:srgbClr val="5B6475"/>
                </a:solidFill>
              </a:rPr>
              <a:t>COE quota-price elasticity | Management briefing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52B129-BCC2-436A-9193-0228FCE1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5"/>
                </a:solidFill>
              </a:defRPr>
            </a:pPr>
            <a:r>
              <a:rPr sz="1050" b="0">
                <a:solidFill>
                  <a:srgbClr val="5B6475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F3A5C3-6F1E-4316-A9C2-76AFC59C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90750"/>
            <a:ext cx="9715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5F4F2"/>
          </a:solidFill>
          <a:ln xmlns:a="http://schemas.openxmlformats.org/drawingml/2006/main" w="9525">
            <a:solidFill>
              <a:srgbClr val="E5F4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A10D16-823E-4FD8-9A4B-DB082DAB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400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EV price channel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8D1BE4-300A-46E9-AFBB-71C23881F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622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5"/>
                </a:solidFill>
              </a:defRPr>
            </a:pPr>
            <a:r>
              <a:rPr sz="1350" b="0">
                <a:solidFill>
                  <a:srgbClr val="5B6475"/>
                </a:solidFill>
              </a:rPr>
              <a:t>Lower vehicle prices from China-led EV competition can make buyers more willing to bid for a fixed COE.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BD6C66-84F3-49C2-84F0-EB8C12AC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57550"/>
            <a:ext cx="9715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FFF3D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172116-4A94-4BE7-B939-EB35303E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4671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Singapore signal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B14250-4610-4D24-AB55-0286DABB7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4290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5"/>
                </a:solidFill>
              </a:defRPr>
            </a:pPr>
            <a:r>
              <a:rPr sz="1350" b="0">
                <a:solidFill>
                  <a:srgbClr val="5B6475"/>
                </a:solidFill>
              </a:rPr>
              <a:t>EVs were 57.6% of new car registrations in Q1 2026; BYD 24.3%, Tesla 11.4%.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77FF55-0FA3-49C5-9227-EAB94BD6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24350"/>
            <a:ext cx="9715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DEAE7"/>
          </a:solidFill>
          <a:ln xmlns:a="http://schemas.openxmlformats.org/drawingml/2006/main" w="9525">
            <a:solidFill>
              <a:srgbClr val="FDEA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9FD5E6-86E1-4929-8559-6E5BBD49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339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Model implication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D6BE17-2500-4EDB-B611-76B0FE4DE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4958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5"/>
                </a:solidFill>
              </a:defRPr>
            </a:pPr>
            <a:r>
              <a:rPr sz="1350" b="0">
                <a:solidFill>
                  <a:srgbClr val="5B6475"/>
                </a:solidFill>
              </a:rPr>
              <a:t>Treat EV mix as a demand-side control or residual explanation, especially for recent Cat A observations.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722C63-5798-4BCA-955C-8C70A73B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619750"/>
            <a:ext cx="906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00857A"/>
                </a:solidFill>
              </a:defRPr>
            </a:pPr>
            <a:r>
              <a:rPr sz="1575">
                <a:solidFill>
                  <a:srgbClr val="00857A"/>
                </a:solidFill>
              </a:rPr>
              <a:t>Sources: </a:t>
            </a:r>
            <a:r>
              <a:rPr sz="1575" u="sng">
                <a:solidFill>
                  <a:srgbClr val="00857A"/>
                </a:solidFill>
                <a:hlinkClick xmlns:r="http://schemas.openxmlformats.org/officeDocument/2006/relationships" r:id="Rafb1f47bb0d24b17"/>
              </a:rPr>
              <a:t>IEA Global EV Outlook 2025</a:t>
            </a:r>
            <a:r>
              <a:rPr sz="1575">
                <a:solidFill>
                  <a:srgbClr val="00857A"/>
                </a:solidFill>
              </a:rPr>
              <a:t> | </a:t>
            </a:r>
            <a:r>
              <a:rPr sz="1575" u="sng">
                <a:solidFill>
                  <a:srgbClr val="00857A"/>
                </a:solidFill>
                <a:hlinkClick xmlns:r="http://schemas.openxmlformats.org/officeDocument/2006/relationships" r:id="Rb4a213da6e8c447d"/>
              </a:rPr>
              <a:t>Business Times EV registrations</a:t>
            </a:r>
            <a:r>
              <a:rPr sz="1575">
                <a:solidFill>
                  <a:srgbClr val="00857A"/>
                </a:solidFill>
              </a:rPr>
              <a:t> | </a:t>
            </a:r>
            <a:r>
              <a:rPr sz="1575" u="sng">
                <a:solidFill>
                  <a:srgbClr val="00857A"/>
                </a:solidFill>
                <a:hlinkClick xmlns:r="http://schemas.openxmlformats.org/officeDocument/2006/relationships" r:id="R5b19968862aa4792"/>
              </a:rPr>
              <a:t>LTA EV transition</a:t>
            </a:r>
          </a:p>
        </p:txBody>
      </p:sp>
    </p:spTree>
    <p:extLst>
      <p:ext uri="{BB962C8B-B14F-4D97-AF65-F5344CB8AC3E}">
        <p14:creationId xmlns:p14="http://schemas.microsoft.com/office/powerpoint/2010/main" val="85755163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537406-A274-4B66-B6C7-82319056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191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Supplementary Context:</a:t>
            </a:r>
          </a:p>
          <a:p xmlns:a="http://schemas.openxmlformats.org/drawingml/2006/main">
            <a:pPr algn="l">
              <a:buNone/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COVID Regime Shift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D8F0C4-0CB0-4738-B9DC-6B7F7213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5"/>
                </a:solidFill>
              </a:defRPr>
            </a:pPr>
            <a:r>
              <a:rPr sz="1350" b="0">
                <a:solidFill>
                  <a:srgbClr val="5B6475"/>
                </a:solidFill>
              </a:rPr>
              <a:t>COVID changed both market operations and how buyers may have viewed private transport.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EE55D1-DBBE-4494-9227-E76BB431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17C47D-FC58-46C3-B404-604D551E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475"/>
                </a:solidFill>
              </a:defRPr>
            </a:pPr>
            <a:r>
              <a:rPr sz="1050" b="0">
                <a:solidFill>
                  <a:srgbClr val="5B6475"/>
                </a:solidFill>
              </a:rPr>
              <a:t>COE quota-price elasticity | Management briefing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52B129-BCC2-436A-9193-0228FCE1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5"/>
                </a:solidFill>
              </a:defRPr>
            </a:pPr>
            <a:r>
              <a:rPr sz="1050" b="0">
                <a:solidFill>
                  <a:srgbClr val="5B6475"/>
                </a:solidFill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F3A5C3-6F1E-4316-A9C2-76AFC59C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90750"/>
            <a:ext cx="9715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5F4F2"/>
          </a:solidFill>
          <a:ln xmlns:a="http://schemas.openxmlformats.org/drawingml/2006/main" w="9525">
            <a:solidFill>
              <a:srgbClr val="E5F4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A10D16-823E-4FD8-9A4B-DB082DAB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400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Operational break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8D1BE4-300A-46E9-AFBB-71C23881F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622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5"/>
                </a:solidFill>
              </a:defRPr>
            </a:pPr>
            <a:r>
              <a:rPr sz="1350" b="0">
                <a:solidFill>
                  <a:srgbClr val="5B6475"/>
                </a:solidFill>
              </a:rPr>
              <a:t>LTA suspended COE bidding in Apr-May 2020 during the circuit breaker.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BD6C66-84F3-49C2-84F0-EB8C12AC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57550"/>
            <a:ext cx="9715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FFF3D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172116-4A94-4BE7-B939-EB35303E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4671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Behaviour channel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B14250-4610-4D24-AB55-0286DABB7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4290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5"/>
                </a:solidFill>
              </a:defRPr>
            </a:pPr>
            <a:r>
              <a:rPr sz="1350" b="0">
                <a:solidFill>
                  <a:srgbClr val="5B6475"/>
                </a:solidFill>
              </a:rPr>
              <a:t>Public transport ridership fell sharply in 2020, supporting a separate COVID-period check.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77FF55-0FA3-49C5-9227-EAB94BD6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24350"/>
            <a:ext cx="9715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DEAE7"/>
          </a:solidFill>
          <a:ln xmlns:a="http://schemas.openxmlformats.org/drawingml/2006/main" w="9525">
            <a:solidFill>
              <a:srgbClr val="FDEA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9FD5E6-86E1-4929-8559-6E5BBD49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339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Model implication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D6BE17-2500-4EDB-B611-76B0FE4DE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4958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5"/>
                </a:solidFill>
              </a:defRPr>
            </a:pPr>
            <a:r>
              <a:rPr sz="1350" b="0">
                <a:solidFill>
                  <a:srgbClr val="5B6475"/>
                </a:solidFill>
              </a:rPr>
              <a:t>Keep 2020 and post-2020 regime flags; interpret outliers as market context, not ordinary volatility.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722C63-5798-4BCA-955C-8C70A73B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619750"/>
            <a:ext cx="906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00857A"/>
                </a:solidFill>
              </a:defRPr>
            </a:pPr>
            <a:r>
              <a:rPr sz="1575">
                <a:solidFill>
                  <a:srgbClr val="00857A"/>
                </a:solidFill>
              </a:rPr>
              <a:t>Sources: </a:t>
            </a:r>
            <a:r>
              <a:rPr sz="1575" u="sng">
                <a:solidFill>
                  <a:srgbClr val="00857A"/>
                </a:solidFill>
                <a:hlinkClick xmlns:r="http://schemas.openxmlformats.org/officeDocument/2006/relationships" r:id="Rf1383e9cc24e4414"/>
              </a:rPr>
              <a:t>LTA COE suspension</a:t>
            </a:r>
            <a:r>
              <a:rPr sz="1575">
                <a:solidFill>
                  <a:srgbClr val="00857A"/>
                </a:solidFill>
              </a:rPr>
              <a:t> | </a:t>
            </a:r>
            <a:r>
              <a:rPr sz="1575" u="sng">
                <a:solidFill>
                  <a:srgbClr val="00857A"/>
                </a:solidFill>
                <a:hlinkClick xmlns:r="http://schemas.openxmlformats.org/officeDocument/2006/relationships" r:id="R3e8c71836a60498c"/>
              </a:rPr>
              <a:t>LTA ridership statistics</a:t>
            </a:r>
            <a:r>
              <a:rPr sz="1575">
                <a:solidFill>
                  <a:srgbClr val="00857A"/>
                </a:solidFill>
              </a:rPr>
              <a:t> | </a:t>
            </a:r>
            <a:r>
              <a:rPr sz="1575" u="sng">
                <a:solidFill>
                  <a:srgbClr val="00857A"/>
                </a:solidFill>
                <a:hlinkClick xmlns:r="http://schemas.openxmlformats.org/officeDocument/2006/relationships" r:id="R62ab600372bc4f7f"/>
              </a:rPr>
              <a:t>IEA COVID transport note</a:t>
            </a:r>
          </a:p>
        </p:txBody>
      </p:sp>
    </p:spTree>
    <p:extLst>
      <p:ext uri="{BB962C8B-B14F-4D97-AF65-F5344CB8AC3E}">
        <p14:creationId xmlns:p14="http://schemas.microsoft.com/office/powerpoint/2010/main" val="85755163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537406-A274-4B66-B6C7-82319056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191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Supplementary Context:</a:t>
            </a:r>
          </a:p>
          <a:p xmlns:a="http://schemas.openxmlformats.org/drawingml/2006/main">
            <a:pPr algn="l">
              <a:buNone/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Fixed Supply and Population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D8F0C4-0CB0-4738-B9DC-6B7F7213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5"/>
                </a:solidFill>
              </a:defRPr>
            </a:pPr>
            <a:r>
              <a:rPr sz="1350" b="0">
                <a:solidFill>
                  <a:srgbClr val="5B6475"/>
                </a:solidFill>
              </a:rPr>
              <a:t>With zero vehicle growth, demand-side shifts are more likely to appear in premiums than vehicle counts.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EE55D1-DBBE-4494-9227-E76BB431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17C47D-FC58-46C3-B404-604D551E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475"/>
                </a:solidFill>
              </a:defRPr>
            </a:pPr>
            <a:r>
              <a:rPr sz="1050" b="0">
                <a:solidFill>
                  <a:srgbClr val="5B6475"/>
                </a:solidFill>
              </a:rPr>
              <a:t>COE quota-price elasticity | Management briefing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52B129-BCC2-436A-9193-0228FCE1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5"/>
                </a:solidFill>
              </a:defRPr>
            </a:pPr>
            <a:r>
              <a:rPr sz="1050" b="0">
                <a:solidFill>
                  <a:srgbClr val="5B6475"/>
                </a:solidFill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F3A5C3-6F1E-4316-A9C2-76AFC59C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90750"/>
            <a:ext cx="9715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5F4F2"/>
          </a:solidFill>
          <a:ln xmlns:a="http://schemas.openxmlformats.org/drawingml/2006/main" w="9525">
            <a:solidFill>
              <a:srgbClr val="E5F4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A10D16-823E-4FD8-9A4B-DB082DAB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400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Supply constraint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8D1BE4-300A-46E9-AFBB-71C23881F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622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5"/>
                </a:solidFill>
              </a:defRPr>
            </a:pPr>
            <a:r>
              <a:rPr sz="1350" b="0">
                <a:solidFill>
                  <a:srgbClr val="5B6475"/>
                </a:solidFill>
              </a:rPr>
              <a:t>MOT states zero vehicle growth for cars and motorcycles remains until 31 Jan 2028.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BD6C66-84F3-49C2-84F0-EB8C12AC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57550"/>
            <a:ext cx="9715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FFF3D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172116-4A94-4BE7-B939-EB35303E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4671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Population context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B14250-4610-4D24-AB55-0286DABB7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4290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5"/>
                </a:solidFill>
              </a:defRPr>
            </a:pPr>
            <a:r>
              <a:rPr sz="1350" b="0">
                <a:solidFill>
                  <a:srgbClr val="5B6475"/>
                </a:solidFill>
              </a:rPr>
              <a:t>Singapore population reached 6.11m in Jun 2025, up 1.2% y/y, mainly due to non-resident growth.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77FF55-0FA3-49C5-9227-EAB94BD6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24350"/>
            <a:ext cx="9715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DEAE7"/>
          </a:solidFill>
          <a:ln xmlns:a="http://schemas.openxmlformats.org/drawingml/2006/main" w="9525">
            <a:solidFill>
              <a:srgbClr val="FDEA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9FD5E6-86E1-4929-8559-6E5BBD49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339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D6BE17-2500-4EDB-B611-76B0FE4DE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4958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5"/>
                </a:solidFill>
              </a:defRPr>
            </a:pPr>
            <a:r>
              <a:rPr sz="1350" b="0">
                <a:solidFill>
                  <a:srgbClr val="5B6475"/>
                </a:solidFill>
              </a:rPr>
              <a:t>Population growth supports transport-demand context, but is not direct proof of higher private-car bidding.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722C63-5798-4BCA-955C-8C70A73B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619750"/>
            <a:ext cx="906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00857A"/>
                </a:solidFill>
              </a:defRPr>
            </a:pPr>
            <a:r>
              <a:rPr sz="1575">
                <a:solidFill>
                  <a:srgbClr val="00857A"/>
                </a:solidFill>
              </a:rPr>
              <a:t>Sources: </a:t>
            </a:r>
            <a:r>
              <a:rPr sz="1575" u="sng">
                <a:solidFill>
                  <a:srgbClr val="00857A"/>
                </a:solidFill>
                <a:hlinkClick xmlns:r="http://schemas.openxmlformats.org/officeDocument/2006/relationships" r:id="R70ea1319f0dc4b1a"/>
              </a:rPr>
              <a:t>MOT vehicle ownership</a:t>
            </a:r>
            <a:r>
              <a:rPr sz="1575">
                <a:solidFill>
                  <a:srgbClr val="00857A"/>
                </a:solidFill>
              </a:rPr>
              <a:t> | </a:t>
            </a:r>
            <a:r>
              <a:rPr sz="1575" u="sng">
                <a:solidFill>
                  <a:srgbClr val="00857A"/>
                </a:solidFill>
                <a:hlinkClick xmlns:r="http://schemas.openxmlformats.org/officeDocument/2006/relationships" r:id="Reb28b061b1f04091"/>
              </a:rPr>
              <a:t>NPTD population trends</a:t>
            </a:r>
          </a:p>
        </p:txBody>
      </p:sp>
    </p:spTree>
    <p:extLst>
      <p:ext uri="{BB962C8B-B14F-4D97-AF65-F5344CB8AC3E}">
        <p14:creationId xmlns:p14="http://schemas.microsoft.com/office/powerpoint/2010/main" val="85755163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537406-A274-4B66-B6C7-82319056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191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Supplementary Context:</a:t>
            </a:r>
          </a:p>
          <a:p xmlns:a="http://schemas.openxmlformats.org/drawingml/2006/main">
            <a:pPr algn="l">
              <a:buNone/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Wealth Inflows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D8F0C4-0CB0-4738-B9DC-6B7F7213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5"/>
                </a:solidFill>
              </a:defRPr>
            </a:pPr>
            <a:r>
              <a:rPr sz="1350" b="0">
                <a:solidFill>
                  <a:srgbClr val="5B6475"/>
                </a:solidFill>
              </a:rPr>
              <a:t>Rising wealth presence may stiffen competition at the margin, especially in higher-priced categories.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EE55D1-DBBE-4494-9227-E76BB431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solidFill>
              <a:srgbClr val="D8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17C47D-FC58-46C3-B404-604D551E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475"/>
                </a:solidFill>
              </a:defRPr>
            </a:pPr>
            <a:r>
              <a:rPr sz="1050" b="0">
                <a:solidFill>
                  <a:srgbClr val="5B6475"/>
                </a:solidFill>
              </a:rPr>
              <a:t>COE quota-price elasticity | Management briefing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52B129-BCC2-436A-9193-0228FCE1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B6475"/>
                </a:solidFill>
              </a:defRPr>
            </a:pPr>
            <a:r>
              <a:rPr sz="1050" b="0">
                <a:solidFill>
                  <a:srgbClr val="5B6475"/>
                </a:solidFill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F3A5C3-6F1E-4316-A9C2-76AFC59C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90750"/>
            <a:ext cx="9715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5F4F2"/>
          </a:solidFill>
          <a:ln xmlns:a="http://schemas.openxmlformats.org/drawingml/2006/main" w="9525">
            <a:solidFill>
              <a:srgbClr val="E5F4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A10D16-823E-4FD8-9A4B-DB082DAB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400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Family offices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8D1BE4-300A-46E9-AFBB-71C23881F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622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5"/>
                </a:solidFill>
              </a:defRPr>
            </a:pPr>
            <a:r>
              <a:rPr sz="1350" b="0">
                <a:solidFill>
                  <a:srgbClr val="5B6475"/>
                </a:solidFill>
              </a:rPr>
              <a:t>Singapore had more than 2,000 family offices by end-2024, nearly 10x five years earlier.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BD6C66-84F3-49C2-84F0-EB8C12AC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57550"/>
            <a:ext cx="9715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FFF3D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172116-4A94-4BE7-B939-EB35303E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4671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Where it matters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B14250-4610-4D24-AB55-0286DABB7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4290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5"/>
                </a:solidFill>
              </a:defRPr>
            </a:pPr>
            <a:r>
              <a:rPr sz="1350" b="0">
                <a:solidFill>
                  <a:srgbClr val="5B6475"/>
                </a:solidFill>
              </a:rPr>
              <a:t>If relevant, expect the signal to be more visible in Cat B/luxury demand than broad Cat A household demand.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77FF55-0FA3-49C5-9227-EAB94BD6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24350"/>
            <a:ext cx="9715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DEAE7"/>
          </a:solidFill>
          <a:ln xmlns:a="http://schemas.openxmlformats.org/drawingml/2006/main" w="9525">
            <a:solidFill>
              <a:srgbClr val="FDEA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9FD5E6-86E1-4929-8559-6E5BBD49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339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Evidence limit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D6BE17-2500-4EDB-B611-76B0FE4DE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4958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B6475"/>
                </a:solidFill>
              </a:defRPr>
            </a:pPr>
            <a:r>
              <a:rPr sz="1350" b="0">
                <a:solidFill>
                  <a:srgbClr val="5B6475"/>
                </a:solidFill>
              </a:rPr>
              <a:t>Use as context only unless matched data links wealth inflows, high-end registrations, and COE bids.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722C63-5798-4BCA-955C-8C70A73B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619750"/>
            <a:ext cx="906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00857A"/>
                </a:solidFill>
              </a:defRPr>
            </a:pPr>
            <a:r>
              <a:rPr sz="1575">
                <a:solidFill>
                  <a:srgbClr val="00857A"/>
                </a:solidFill>
              </a:rPr>
              <a:t>Sources: </a:t>
            </a:r>
            <a:r>
              <a:rPr sz="1575" u="sng">
                <a:solidFill>
                  <a:srgbClr val="00857A"/>
                </a:solidFill>
                <a:hlinkClick xmlns:r="http://schemas.openxmlformats.org/officeDocument/2006/relationships" r:id="R15db3ba37acc47e6"/>
              </a:rPr>
              <a:t>MAS family-office speech</a:t>
            </a:r>
            <a:r>
              <a:rPr sz="1575">
                <a:solidFill>
                  <a:srgbClr val="00857A"/>
                </a:solidFill>
              </a:rPr>
              <a:t> | </a:t>
            </a:r>
            <a:r>
              <a:rPr sz="1575" u="sng">
                <a:solidFill>
                  <a:srgbClr val="00857A"/>
                </a:solidFill>
                <a:hlinkClick xmlns:r="http://schemas.openxmlformats.org/officeDocument/2006/relationships" r:id="Redbc489341ec4490"/>
              </a:rPr>
              <a:t>Business Times family offices</a:t>
            </a:r>
          </a:p>
        </p:txBody>
      </p:sp>
    </p:spTree>
    <p:extLst>
      <p:ext uri="{BB962C8B-B14F-4D97-AF65-F5344CB8AC3E}">
        <p14:creationId xmlns:p14="http://schemas.microsoft.com/office/powerpoint/2010/main" val="8575516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2026-06-29T16:53:59.7750000Z</dcterms:created>
  <dcterms:modified xsi:type="dcterms:W3CDTF">2026-06-29T16:53:59.7750000Z</dcterms:modified>
</coreProperties>
</file>